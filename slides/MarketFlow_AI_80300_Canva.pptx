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1: Quản trị KPI và Nhập CSV 2 bước.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2: Rào chắn từ khóa cấm và Phê duyệt 4 mắt.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3: Trợ lý AI thực thi FastMCP và Thẻ đề xuất.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4: Phòng thủ Prompt Injection.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jpg"/><Relationship Id="rId5"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3.jpg"/><Relationship Id="rId5"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4.jpg"/><Relationship Id="rId5"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5.jpg"/><Relationship Id="rId5"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498079"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9" y="0"/>
            <a:ext cx="4693615"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79" y="0"/>
            <a:ext cx="2346350" cy="3429000"/>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79" y="3429000"/>
            <a:ext cx="4693615"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844430" y="0"/>
            <a:ext cx="10972" cy="6858000"/>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_ictu.png"/>
          <p:cNvPicPr>
            <a:picLocks noChangeAspect="1"/>
          </p:cNvPicPr>
          <p:nvPr/>
        </p:nvPicPr>
        <p:blipFill>
          <a:blip r:embed="rId2"/>
          <a:stretch>
            <a:fillRect/>
          </a:stretch>
        </p:blipFill>
        <p:spPr>
          <a:xfrm>
            <a:off x="658368" y="384048"/>
            <a:ext cx="502920" cy="502920"/>
          </a:xfrm>
          <a:prstGeom prst="rect">
            <a:avLst/>
          </a:prstGeom>
        </p:spPr>
      </p:pic>
      <p:sp>
        <p:nvSpPr>
          <p:cNvPr id="8" name="TextBox 7"/>
          <p:cNvSpPr txBox="1"/>
          <p:nvPr/>
        </p:nvSpPr>
        <p:spPr>
          <a:xfrm>
            <a:off x="1298448" y="402336"/>
            <a:ext cx="5577840" cy="228600"/>
          </a:xfrm>
          <a:prstGeom prst="rect">
            <a:avLst/>
          </a:prstGeom>
          <a:noFill/>
        </p:spPr>
        <p:txBody>
          <a:bodyPr wrap="square" lIns="0" rIns="0" tIns="0" bIns="0">
            <a:spAutoFit/>
          </a:bodyPr>
          <a:lstStyle/>
          <a:p>
            <a:pPr algn="l">
              <a:defRPr sz="950" b="1" i="0">
                <a:solidFill>
                  <a:srgbClr val="231F1E"/>
                </a:solidFill>
                <a:latin typeface="Segoe UI"/>
              </a:defRPr>
            </a:pPr>
            <a:r>
              <a:t>TRƯỜNG ĐẠI HỌC CÔNG NGHỆ THÔNG TIN &amp; TRUYỀN THÔNG (ICTU)</a:t>
            </a:r>
          </a:p>
        </p:txBody>
      </p:sp>
      <p:sp>
        <p:nvSpPr>
          <p:cNvPr id="9" name="TextBox 8"/>
          <p:cNvSpPr txBox="1"/>
          <p:nvPr/>
        </p:nvSpPr>
        <p:spPr>
          <a:xfrm>
            <a:off x="1298448" y="621792"/>
            <a:ext cx="5577840" cy="228600"/>
          </a:xfrm>
          <a:prstGeom prst="rect">
            <a:avLst/>
          </a:prstGeom>
          <a:noFill/>
        </p:spPr>
        <p:txBody>
          <a:bodyPr wrap="square" lIns="0" rIns="0" tIns="0" bIns="0">
            <a:spAutoFit/>
          </a:bodyPr>
          <a:lstStyle/>
          <a:p>
            <a:pPr algn="l">
              <a:defRPr sz="850" b="1" i="0">
                <a:solidFill>
                  <a:srgbClr val="C85A32"/>
                </a:solidFill>
                <a:latin typeface="Segoe UI"/>
              </a:defRPr>
            </a:pPr>
            <a:r>
              <a:t>KHOA CÔNG NGHỆ THÔNG TIN · HỌC PHẦN AIA331 · MÃ ĐỀ TÀI 80300</a:t>
            </a:r>
          </a:p>
        </p:txBody>
      </p:sp>
      <p:sp>
        <p:nvSpPr>
          <p:cNvPr id="10" name="Rectangle 9"/>
          <p:cNvSpPr/>
          <p:nvPr/>
        </p:nvSpPr>
        <p:spPr>
          <a:xfrm>
            <a:off x="658368" y="987552"/>
            <a:ext cx="621792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143000"/>
            <a:ext cx="6217920" cy="256032"/>
          </a:xfrm>
          <a:prstGeom prst="rect">
            <a:avLst/>
          </a:prstGeom>
          <a:noFill/>
        </p:spPr>
        <p:txBody>
          <a:bodyPr wrap="square" lIns="0" rIns="0" tIns="0" bIns="0">
            <a:spAutoFit/>
          </a:bodyPr>
          <a:lstStyle/>
          <a:p>
            <a:pPr algn="l">
              <a:defRPr sz="1000" b="1" i="0">
                <a:solidFill>
                  <a:srgbClr val="C85A32"/>
                </a:solidFill>
                <a:latin typeface="Segoe UI"/>
              </a:defRPr>
            </a:pPr>
            <a:r>
              <a:t>BÁO CÁO ĐỒ ÁN KẾT THÚC HỌC PHẦN · MARKETFLOW AI</a:t>
            </a:r>
          </a:p>
        </p:txBody>
      </p:sp>
      <p:sp>
        <p:nvSpPr>
          <p:cNvPr id="12" name="TextBox 11"/>
          <p:cNvSpPr txBox="1"/>
          <p:nvPr/>
        </p:nvSpPr>
        <p:spPr>
          <a:xfrm>
            <a:off x="658368" y="1444752"/>
            <a:ext cx="6309360" cy="2103120"/>
          </a:xfrm>
          <a:prstGeom prst="rect">
            <a:avLst/>
          </a:prstGeom>
          <a:noFill/>
        </p:spPr>
        <p:txBody>
          <a:bodyPr wrap="square" lIns="0" rIns="0" tIns="0" bIns="0">
            <a:spAutoFit/>
          </a:bodyPr>
          <a:lstStyle/>
          <a:p>
            <a:pPr algn="l">
              <a:defRPr sz="4000" b="1" i="0">
                <a:solidFill>
                  <a:srgbClr val="231F1E"/>
                </a:solidFill>
                <a:latin typeface="Georgia"/>
              </a:defRPr>
            </a:pPr>
            <a:r>
              <a:t>Hệ thống Quản lý</a:t>
            </a:r>
            <a:br/>
            <a:r>
              <a:t>Chiến dịch Marketing</a:t>
            </a:r>
            <a:br/>
            <a:r>
              <a:t>tích hợp Trợ lý AI</a:t>
            </a:r>
          </a:p>
        </p:txBody>
      </p:sp>
      <p:sp>
        <p:nvSpPr>
          <p:cNvPr id="13" name="TextBox 12"/>
          <p:cNvSpPr txBox="1"/>
          <p:nvPr/>
        </p:nvSpPr>
        <p:spPr>
          <a:xfrm>
            <a:off x="658368" y="3675887"/>
            <a:ext cx="6126480" cy="868680"/>
          </a:xfrm>
          <a:prstGeom prst="rect">
            <a:avLst/>
          </a:prstGeom>
          <a:noFill/>
        </p:spPr>
        <p:txBody>
          <a:bodyPr wrap="square" lIns="0" rIns="0" tIns="0" bIns="0">
            <a:spAutoFit/>
          </a:bodyPr>
          <a:lstStyle/>
          <a:p>
            <a:pPr algn="l">
              <a:defRPr sz="1300" b="0" i="0">
                <a:solidFill>
                  <a:srgbClr val="4A443F"/>
                </a:solidFill>
                <a:latin typeface="Segoe UI"/>
              </a:defRPr>
            </a:pPr>
            <a:r>
              <a:t>Nền tảng điều phối chiến dịch tiếp thị đa kênh kết hợp kiểm soát phê duyệt 4 mắt (Four-Eyes HITL), tự động suy diễn phễu chỉ số KPI và Trợ lý AI cô lập qua giao thức FastMCP chống ảo giác số liệu.</a:t>
            </a:r>
          </a:p>
        </p:txBody>
      </p:sp>
      <p:sp>
        <p:nvSpPr>
          <p:cNvPr id="14" name="Rectangle 13"/>
          <p:cNvSpPr/>
          <p:nvPr/>
        </p:nvSpPr>
        <p:spPr>
          <a:xfrm>
            <a:off x="658368" y="4663440"/>
            <a:ext cx="6217920" cy="1755648"/>
          </a:xfrm>
          <a:prstGeom prst="rect">
            <a:avLst/>
          </a:prstGeom>
          <a:solidFill>
            <a:srgbClr val="F2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663440"/>
            <a:ext cx="6217920" cy="27432"/>
          </a:xfrm>
          <a:prstGeom prst="rect">
            <a:avLst/>
          </a:prstGeom>
          <a:solidFill>
            <a:srgbClr val="231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4773168"/>
            <a:ext cx="2743200" cy="201168"/>
          </a:xfrm>
          <a:prstGeom prst="rect">
            <a:avLst/>
          </a:prstGeom>
          <a:noFill/>
        </p:spPr>
        <p:txBody>
          <a:bodyPr wrap="square" lIns="0" rIns="0" tIns="0" bIns="0">
            <a:spAutoFit/>
          </a:bodyPr>
          <a:lstStyle/>
          <a:p>
            <a:pPr algn="l">
              <a:defRPr sz="850" b="1" i="0">
                <a:solidFill>
                  <a:srgbClr val="C85A32"/>
                </a:solidFill>
                <a:latin typeface="Segoe UI"/>
              </a:defRPr>
            </a:pPr>
            <a:r>
              <a:t>NHÓM THỰC HIỆN</a:t>
            </a:r>
          </a:p>
        </p:txBody>
      </p:sp>
      <p:sp>
        <p:nvSpPr>
          <p:cNvPr id="17" name="TextBox 16"/>
          <p:cNvSpPr txBox="1"/>
          <p:nvPr/>
        </p:nvSpPr>
        <p:spPr>
          <a:xfrm>
            <a:off x="841248" y="4974336"/>
            <a:ext cx="2743200" cy="320040"/>
          </a:xfrm>
          <a:prstGeom prst="rect">
            <a:avLst/>
          </a:prstGeom>
          <a:noFill/>
        </p:spPr>
        <p:txBody>
          <a:bodyPr wrap="square" lIns="0" rIns="0" tIns="0" bIns="0">
            <a:spAutoFit/>
          </a:bodyPr>
          <a:lstStyle/>
          <a:p>
            <a:pPr algn="l">
              <a:defRPr sz="1500" b="1" i="0">
                <a:solidFill>
                  <a:srgbClr val="231F1E"/>
                </a:solidFill>
                <a:latin typeface="Georgia"/>
              </a:defRPr>
            </a:pPr>
            <a:r>
              <a:t>Nhóm 25 — Học phần AIA331</a:t>
            </a:r>
          </a:p>
        </p:txBody>
      </p:sp>
      <p:sp>
        <p:nvSpPr>
          <p:cNvPr id="18" name="TextBox 17"/>
          <p:cNvSpPr txBox="1"/>
          <p:nvPr/>
        </p:nvSpPr>
        <p:spPr>
          <a:xfrm>
            <a:off x="3794760" y="4773168"/>
            <a:ext cx="2926080" cy="201168"/>
          </a:xfrm>
          <a:prstGeom prst="rect">
            <a:avLst/>
          </a:prstGeom>
          <a:noFill/>
        </p:spPr>
        <p:txBody>
          <a:bodyPr wrap="square" lIns="0" rIns="0" tIns="0" bIns="0">
            <a:spAutoFit/>
          </a:bodyPr>
          <a:lstStyle/>
          <a:p>
            <a:pPr algn="l">
              <a:defRPr sz="850" b="1" i="0">
                <a:solidFill>
                  <a:srgbClr val="1E6B52"/>
                </a:solidFill>
                <a:latin typeface="Segoe UI"/>
              </a:defRPr>
            </a:pPr>
            <a:r>
              <a:t>GIẢNG VIÊN HƯỚNG DẪN</a:t>
            </a:r>
          </a:p>
        </p:txBody>
      </p:sp>
      <p:sp>
        <p:nvSpPr>
          <p:cNvPr id="19" name="TextBox 18"/>
          <p:cNvSpPr txBox="1"/>
          <p:nvPr/>
        </p:nvSpPr>
        <p:spPr>
          <a:xfrm>
            <a:off x="3794760" y="4974336"/>
            <a:ext cx="2926080" cy="320040"/>
          </a:xfrm>
          <a:prstGeom prst="rect">
            <a:avLst/>
          </a:prstGeom>
          <a:noFill/>
        </p:spPr>
        <p:txBody>
          <a:bodyPr wrap="square" lIns="0" rIns="0" tIns="0" bIns="0">
            <a:spAutoFit/>
          </a:bodyPr>
          <a:lstStyle/>
          <a:p>
            <a:pPr algn="l">
              <a:defRPr sz="1500" b="1" i="0">
                <a:solidFill>
                  <a:srgbClr val="231F1E"/>
                </a:solidFill>
                <a:latin typeface="Georgia"/>
              </a:defRPr>
            </a:pPr>
            <a:r>
              <a:t>TS. Nguyễn Tuấn Anh</a:t>
            </a:r>
          </a:p>
        </p:txBody>
      </p:sp>
      <p:sp>
        <p:nvSpPr>
          <p:cNvPr id="20" name="Rectangle 19"/>
          <p:cNvSpPr/>
          <p:nvPr/>
        </p:nvSpPr>
        <p:spPr>
          <a:xfrm>
            <a:off x="841248" y="5376672"/>
            <a:ext cx="585216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5468112"/>
            <a:ext cx="5852160" cy="201168"/>
          </a:xfrm>
          <a:prstGeom prst="rect">
            <a:avLst/>
          </a:prstGeom>
          <a:noFill/>
        </p:spPr>
        <p:txBody>
          <a:bodyPr wrap="square" lIns="0" rIns="0" tIns="0" bIns="0">
            <a:spAutoFit/>
          </a:bodyPr>
          <a:lstStyle/>
          <a:p>
            <a:pPr algn="l">
              <a:defRPr sz="850" b="1" i="0">
                <a:solidFill>
                  <a:srgbClr val="787067"/>
                </a:solidFill>
                <a:latin typeface="Segoe UI"/>
              </a:defRPr>
            </a:pPr>
            <a:r>
              <a:t>SINH VIÊN THỰC HIỆN</a:t>
            </a:r>
          </a:p>
        </p:txBody>
      </p:sp>
      <p:sp>
        <p:nvSpPr>
          <p:cNvPr id="22" name="TextBox 21"/>
          <p:cNvSpPr txBox="1"/>
          <p:nvPr/>
        </p:nvSpPr>
        <p:spPr>
          <a:xfrm>
            <a:off x="841248" y="5687568"/>
            <a:ext cx="2834640" cy="320040"/>
          </a:xfrm>
          <a:prstGeom prst="rect">
            <a:avLst/>
          </a:prstGeom>
          <a:noFill/>
        </p:spPr>
        <p:txBody>
          <a:bodyPr wrap="square" lIns="0" rIns="0" tIns="0" bIns="0">
            <a:spAutoFit/>
          </a:bodyPr>
          <a:lstStyle/>
          <a:p>
            <a:pPr algn="l">
              <a:defRPr sz="1150" b="1" i="0">
                <a:solidFill>
                  <a:srgbClr val="231F1E"/>
                </a:solidFill>
                <a:latin typeface="Segoe UI"/>
              </a:defRPr>
            </a:pPr>
            <a:r>
              <a:t>1. Vũ Hiếu Kiên  (DTC245200244)</a:t>
            </a:r>
          </a:p>
        </p:txBody>
      </p:sp>
      <p:sp>
        <p:nvSpPr>
          <p:cNvPr id="23" name="TextBox 22"/>
          <p:cNvSpPr txBox="1"/>
          <p:nvPr/>
        </p:nvSpPr>
        <p:spPr>
          <a:xfrm>
            <a:off x="3794760" y="5687568"/>
            <a:ext cx="2926080" cy="320040"/>
          </a:xfrm>
          <a:prstGeom prst="rect">
            <a:avLst/>
          </a:prstGeom>
          <a:noFill/>
        </p:spPr>
        <p:txBody>
          <a:bodyPr wrap="square" lIns="0" rIns="0" tIns="0" bIns="0">
            <a:spAutoFit/>
          </a:bodyPr>
          <a:lstStyle/>
          <a:p>
            <a:pPr algn="l">
              <a:defRPr sz="1150" b="1" i="0">
                <a:solidFill>
                  <a:srgbClr val="231F1E"/>
                </a:solidFill>
                <a:latin typeface="Segoe UI"/>
              </a:defRPr>
            </a:pPr>
            <a:r>
              <a:t>2. Nguyễn Hải Đăng  (DTC245120051)</a:t>
            </a:r>
          </a:p>
        </p:txBody>
      </p:sp>
      <p:sp>
        <p:nvSpPr>
          <p:cNvPr id="24" name="TextBox 23"/>
          <p:cNvSpPr txBox="1"/>
          <p:nvPr/>
        </p:nvSpPr>
        <p:spPr>
          <a:xfrm>
            <a:off x="841248" y="6053328"/>
            <a:ext cx="5852160" cy="256032"/>
          </a:xfrm>
          <a:prstGeom prst="rect">
            <a:avLst/>
          </a:prstGeom>
          <a:noFill/>
        </p:spPr>
        <p:txBody>
          <a:bodyPr wrap="square" lIns="0" rIns="0" tIns="0" bIns="0">
            <a:spAutoFit/>
          </a:bodyPr>
          <a:lstStyle/>
          <a:p>
            <a:pPr algn="l">
              <a:defRPr sz="1000" b="1" i="0">
                <a:solidFill>
                  <a:srgbClr val="4A443F"/>
                </a:solidFill>
                <a:latin typeface="Segoe UI"/>
              </a:defRPr>
            </a:pPr>
            <a:r>
              <a:t>Triển khai thực tế: https://marketing.kienhieu.id.vn  ·  React 18 · FastAPI · FastMCP</a:t>
            </a:r>
          </a:p>
        </p:txBody>
      </p:sp>
      <p:sp>
        <p:nvSpPr>
          <p:cNvPr id="25" name="TextBox 24"/>
          <p:cNvSpPr txBox="1"/>
          <p:nvPr/>
        </p:nvSpPr>
        <p:spPr>
          <a:xfrm>
            <a:off x="7790688" y="438912"/>
            <a:ext cx="1920240" cy="274320"/>
          </a:xfrm>
          <a:prstGeom prst="rect">
            <a:avLst/>
          </a:prstGeom>
          <a:noFill/>
        </p:spPr>
        <p:txBody>
          <a:bodyPr wrap="square" lIns="0" rIns="0" tIns="0" bIns="0">
            <a:spAutoFit/>
          </a:bodyPr>
          <a:lstStyle/>
          <a:p>
            <a:pPr algn="l">
              <a:defRPr sz="850" b="1" i="0">
                <a:solidFill>
                  <a:srgbClr val="F2ECE1"/>
                </a:solidFill>
                <a:latin typeface="Segoe UI"/>
              </a:defRPr>
            </a:pPr>
            <a:r>
              <a:t>PHẠM VI ĐA KÊNH</a:t>
            </a:r>
          </a:p>
        </p:txBody>
      </p:sp>
      <p:sp>
        <p:nvSpPr>
          <p:cNvPr id="26" name="TextBox 25"/>
          <p:cNvSpPr txBox="1"/>
          <p:nvPr/>
        </p:nvSpPr>
        <p:spPr>
          <a:xfrm>
            <a:off x="7790688" y="1124712"/>
            <a:ext cx="1920240" cy="822960"/>
          </a:xfrm>
          <a:prstGeom prst="rect">
            <a:avLst/>
          </a:prstGeom>
          <a:noFill/>
        </p:spPr>
        <p:txBody>
          <a:bodyPr wrap="square" lIns="0" rIns="0" tIns="0" bIns="0">
            <a:spAutoFit/>
          </a:bodyPr>
          <a:lstStyle/>
          <a:p>
            <a:pPr algn="l">
              <a:defRPr sz="4600" b="1" i="0">
                <a:solidFill>
                  <a:srgbClr val="FBF9F5"/>
                </a:solidFill>
                <a:latin typeface="Georgia"/>
              </a:defRPr>
            </a:pPr>
            <a:r>
              <a:t>07</a:t>
            </a:r>
          </a:p>
        </p:txBody>
      </p:sp>
      <p:sp>
        <p:nvSpPr>
          <p:cNvPr id="27" name="TextBox 26"/>
          <p:cNvSpPr txBox="1"/>
          <p:nvPr/>
        </p:nvSpPr>
        <p:spPr>
          <a:xfrm>
            <a:off x="7790688" y="2103120"/>
            <a:ext cx="1920240" cy="365760"/>
          </a:xfrm>
          <a:prstGeom prst="rect">
            <a:avLst/>
          </a:prstGeom>
          <a:noFill/>
        </p:spPr>
        <p:txBody>
          <a:bodyPr wrap="square" lIns="0" rIns="0" tIns="0" bIns="0">
            <a:spAutoFit/>
          </a:bodyPr>
          <a:lstStyle/>
          <a:p>
            <a:pPr algn="l">
              <a:defRPr sz="1250" b="1" i="0">
                <a:solidFill>
                  <a:srgbClr val="FBF9F5"/>
                </a:solidFill>
                <a:latin typeface="Segoe UI"/>
              </a:defRPr>
            </a:pPr>
            <a:r>
              <a:t>Kênh tiếp thị chuẩn hóa</a:t>
            </a:r>
          </a:p>
        </p:txBody>
      </p:sp>
      <p:sp>
        <p:nvSpPr>
          <p:cNvPr id="28" name="TextBox 27"/>
          <p:cNvSpPr txBox="1"/>
          <p:nvPr/>
        </p:nvSpPr>
        <p:spPr>
          <a:xfrm>
            <a:off x="7790688" y="2468880"/>
            <a:ext cx="1920240" cy="685800"/>
          </a:xfrm>
          <a:prstGeom prst="rect">
            <a:avLst/>
          </a:prstGeom>
          <a:noFill/>
        </p:spPr>
        <p:txBody>
          <a:bodyPr wrap="square" lIns="0" rIns="0" tIns="0" bIns="0">
            <a:spAutoFit/>
          </a:bodyPr>
          <a:lstStyle/>
          <a:p>
            <a:pPr algn="l">
              <a:defRPr sz="1000" b="0" i="0">
                <a:solidFill>
                  <a:srgbClr val="F2ECE1"/>
                </a:solidFill>
                <a:latin typeface="Segoe UI"/>
              </a:defRPr>
            </a:pPr>
            <a:r>
              <a:t>Facebook, Instagram, TikTok, YouTube, Ads, Web, Email</a:t>
            </a:r>
          </a:p>
        </p:txBody>
      </p:sp>
      <p:sp>
        <p:nvSpPr>
          <p:cNvPr id="29" name="TextBox 28"/>
          <p:cNvSpPr txBox="1"/>
          <p:nvPr/>
        </p:nvSpPr>
        <p:spPr>
          <a:xfrm>
            <a:off x="10131552" y="438912"/>
            <a:ext cx="1920240" cy="274320"/>
          </a:xfrm>
          <a:prstGeom prst="rect">
            <a:avLst/>
          </a:prstGeom>
          <a:noFill/>
        </p:spPr>
        <p:txBody>
          <a:bodyPr wrap="square" lIns="0" rIns="0" tIns="0" bIns="0">
            <a:spAutoFit/>
          </a:bodyPr>
          <a:lstStyle/>
          <a:p>
            <a:pPr algn="l">
              <a:defRPr sz="850" b="1" i="0">
                <a:solidFill>
                  <a:srgbClr val="F2ECE1"/>
                </a:solidFill>
                <a:latin typeface="Segoe UI"/>
              </a:defRPr>
            </a:pPr>
            <a:r>
              <a:t>GIAO THỨC AI</a:t>
            </a:r>
          </a:p>
        </p:txBody>
      </p:sp>
      <p:sp>
        <p:nvSpPr>
          <p:cNvPr id="30" name="TextBox 29"/>
          <p:cNvSpPr txBox="1"/>
          <p:nvPr/>
        </p:nvSpPr>
        <p:spPr>
          <a:xfrm>
            <a:off x="10131552" y="1124712"/>
            <a:ext cx="1920240" cy="822960"/>
          </a:xfrm>
          <a:prstGeom prst="rect">
            <a:avLst/>
          </a:prstGeom>
          <a:noFill/>
        </p:spPr>
        <p:txBody>
          <a:bodyPr wrap="square" lIns="0" rIns="0" tIns="0" bIns="0">
            <a:spAutoFit/>
          </a:bodyPr>
          <a:lstStyle/>
          <a:p>
            <a:pPr algn="l">
              <a:defRPr sz="4600" b="1" i="0">
                <a:solidFill>
                  <a:srgbClr val="FBF9F5"/>
                </a:solidFill>
                <a:latin typeface="Georgia"/>
              </a:defRPr>
            </a:pPr>
            <a:r>
              <a:t>14</a:t>
            </a:r>
          </a:p>
        </p:txBody>
      </p:sp>
      <p:sp>
        <p:nvSpPr>
          <p:cNvPr id="31" name="TextBox 30"/>
          <p:cNvSpPr txBox="1"/>
          <p:nvPr/>
        </p:nvSpPr>
        <p:spPr>
          <a:xfrm>
            <a:off x="10131552" y="2103120"/>
            <a:ext cx="1920240" cy="365760"/>
          </a:xfrm>
          <a:prstGeom prst="rect">
            <a:avLst/>
          </a:prstGeom>
          <a:noFill/>
        </p:spPr>
        <p:txBody>
          <a:bodyPr wrap="square" lIns="0" rIns="0" tIns="0" bIns="0">
            <a:spAutoFit/>
          </a:bodyPr>
          <a:lstStyle/>
          <a:p>
            <a:pPr algn="l">
              <a:defRPr sz="1250" b="1" i="0">
                <a:solidFill>
                  <a:srgbClr val="FBF9F5"/>
                </a:solidFill>
                <a:latin typeface="Segoe UI"/>
              </a:defRPr>
            </a:pPr>
            <a:r>
              <a:t>Công cụ FastMCP cô lập</a:t>
            </a:r>
          </a:p>
        </p:txBody>
      </p:sp>
      <p:sp>
        <p:nvSpPr>
          <p:cNvPr id="32" name="TextBox 31"/>
          <p:cNvSpPr txBox="1"/>
          <p:nvPr/>
        </p:nvSpPr>
        <p:spPr>
          <a:xfrm>
            <a:off x="10131552" y="2468880"/>
            <a:ext cx="1920240" cy="685800"/>
          </a:xfrm>
          <a:prstGeom prst="rect">
            <a:avLst/>
          </a:prstGeom>
          <a:noFill/>
        </p:spPr>
        <p:txBody>
          <a:bodyPr wrap="square" lIns="0" rIns="0" tIns="0" bIns="0">
            <a:spAutoFit/>
          </a:bodyPr>
          <a:lstStyle/>
          <a:p>
            <a:pPr algn="l">
              <a:defRPr sz="1000" b="0" i="0">
                <a:solidFill>
                  <a:srgbClr val="F2ECE1"/>
                </a:solidFill>
                <a:latin typeface="Segoe UI"/>
              </a:defRPr>
            </a:pPr>
            <a:r>
              <a:t>10 công cụ chỉ đọc &amp; 04 công cụ chỉ đề xuất</a:t>
            </a:r>
          </a:p>
        </p:txBody>
      </p:sp>
      <p:sp>
        <p:nvSpPr>
          <p:cNvPr id="33" name="TextBox 32"/>
          <p:cNvSpPr txBox="1"/>
          <p:nvPr/>
        </p:nvSpPr>
        <p:spPr>
          <a:xfrm>
            <a:off x="7790688" y="3858768"/>
            <a:ext cx="1920240" cy="274320"/>
          </a:xfrm>
          <a:prstGeom prst="rect">
            <a:avLst/>
          </a:prstGeom>
          <a:noFill/>
        </p:spPr>
        <p:txBody>
          <a:bodyPr wrap="square" lIns="0" rIns="0" tIns="0" bIns="0">
            <a:spAutoFit/>
          </a:bodyPr>
          <a:lstStyle/>
          <a:p>
            <a:pPr algn="l">
              <a:defRPr sz="850" b="1" i="0">
                <a:solidFill>
                  <a:srgbClr val="F2ECE1"/>
                </a:solidFill>
                <a:latin typeface="Segoe UI"/>
              </a:defRPr>
            </a:pPr>
            <a:r>
              <a:t>CHẤT LƯỢNG ĐẦU RA</a:t>
            </a:r>
          </a:p>
        </p:txBody>
      </p:sp>
      <p:sp>
        <p:nvSpPr>
          <p:cNvPr id="34" name="TextBox 33"/>
          <p:cNvSpPr txBox="1"/>
          <p:nvPr/>
        </p:nvSpPr>
        <p:spPr>
          <a:xfrm>
            <a:off x="7790688" y="4544568"/>
            <a:ext cx="1920240" cy="822960"/>
          </a:xfrm>
          <a:prstGeom prst="rect">
            <a:avLst/>
          </a:prstGeom>
          <a:noFill/>
        </p:spPr>
        <p:txBody>
          <a:bodyPr wrap="square" lIns="0" rIns="0" tIns="0" bIns="0">
            <a:spAutoFit/>
          </a:bodyPr>
          <a:lstStyle/>
          <a:p>
            <a:pPr algn="l">
              <a:defRPr sz="4600" b="1" i="0">
                <a:solidFill>
                  <a:srgbClr val="FBF9F5"/>
                </a:solidFill>
                <a:latin typeface="Georgia"/>
              </a:defRPr>
            </a:pPr>
            <a:r>
              <a:t>97,1</a:t>
            </a:r>
          </a:p>
        </p:txBody>
      </p:sp>
      <p:sp>
        <p:nvSpPr>
          <p:cNvPr id="35" name="TextBox 34"/>
          <p:cNvSpPr txBox="1"/>
          <p:nvPr/>
        </p:nvSpPr>
        <p:spPr>
          <a:xfrm>
            <a:off x="7790688" y="5522976"/>
            <a:ext cx="1920240" cy="365760"/>
          </a:xfrm>
          <a:prstGeom prst="rect">
            <a:avLst/>
          </a:prstGeom>
          <a:noFill/>
        </p:spPr>
        <p:txBody>
          <a:bodyPr wrap="square" lIns="0" rIns="0" tIns="0" bIns="0">
            <a:spAutoFit/>
          </a:bodyPr>
          <a:lstStyle/>
          <a:p>
            <a:pPr algn="l">
              <a:defRPr sz="1250" b="1" i="0">
                <a:solidFill>
                  <a:srgbClr val="FBF9F5"/>
                </a:solidFill>
                <a:latin typeface="Segoe UI"/>
              </a:defRPr>
            </a:pPr>
            <a:r>
              <a:t>Điểm đánh giá AI / 100</a:t>
            </a:r>
          </a:p>
        </p:txBody>
      </p:sp>
      <p:sp>
        <p:nvSpPr>
          <p:cNvPr id="36" name="TextBox 35"/>
          <p:cNvSpPr txBox="1"/>
          <p:nvPr/>
        </p:nvSpPr>
        <p:spPr>
          <a:xfrm>
            <a:off x="7790688" y="5888736"/>
            <a:ext cx="1920240" cy="685800"/>
          </a:xfrm>
          <a:prstGeom prst="rect">
            <a:avLst/>
          </a:prstGeom>
          <a:noFill/>
        </p:spPr>
        <p:txBody>
          <a:bodyPr wrap="square" lIns="0" rIns="0" tIns="0" bIns="0">
            <a:spAutoFit/>
          </a:bodyPr>
          <a:lstStyle/>
          <a:p>
            <a:pPr algn="l">
              <a:defRPr sz="1000" b="0" i="0">
                <a:solidFill>
                  <a:srgbClr val="F2ECE1"/>
                </a:solidFill>
                <a:latin typeface="Segoe UI"/>
              </a:defRPr>
            </a:pPr>
            <a:r>
              <a:t>Thực nghiệm 4 thế hệ Prompt trên 140 mẫu</a:t>
            </a:r>
          </a:p>
        </p:txBody>
      </p:sp>
      <p:sp>
        <p:nvSpPr>
          <p:cNvPr id="37" name="TextBox 36"/>
          <p:cNvSpPr txBox="1"/>
          <p:nvPr/>
        </p:nvSpPr>
        <p:spPr>
          <a:xfrm>
            <a:off x="10131552" y="3858768"/>
            <a:ext cx="1920240" cy="274320"/>
          </a:xfrm>
          <a:prstGeom prst="rect">
            <a:avLst/>
          </a:prstGeom>
          <a:noFill/>
        </p:spPr>
        <p:txBody>
          <a:bodyPr wrap="square" lIns="0" rIns="0" tIns="0" bIns="0">
            <a:spAutoFit/>
          </a:bodyPr>
          <a:lstStyle/>
          <a:p>
            <a:pPr algn="l">
              <a:defRPr sz="850" b="1" i="0">
                <a:solidFill>
                  <a:srgbClr val="F2ECE1"/>
                </a:solidFill>
                <a:latin typeface="Segoe UI"/>
              </a:defRPr>
            </a:pPr>
            <a:r>
              <a:t>ĐỘ TIN CẬY PHẦN MỀM</a:t>
            </a:r>
          </a:p>
        </p:txBody>
      </p:sp>
      <p:sp>
        <p:nvSpPr>
          <p:cNvPr id="38" name="TextBox 37"/>
          <p:cNvSpPr txBox="1"/>
          <p:nvPr/>
        </p:nvSpPr>
        <p:spPr>
          <a:xfrm>
            <a:off x="10131552" y="4544568"/>
            <a:ext cx="1920240" cy="822960"/>
          </a:xfrm>
          <a:prstGeom prst="rect">
            <a:avLst/>
          </a:prstGeom>
          <a:noFill/>
        </p:spPr>
        <p:txBody>
          <a:bodyPr wrap="square" lIns="0" rIns="0" tIns="0" bIns="0">
            <a:spAutoFit/>
          </a:bodyPr>
          <a:lstStyle/>
          <a:p>
            <a:pPr algn="l">
              <a:defRPr sz="4600" b="1" i="0">
                <a:solidFill>
                  <a:srgbClr val="FBF9F5"/>
                </a:solidFill>
                <a:latin typeface="Georgia"/>
              </a:defRPr>
            </a:pPr>
            <a:r>
              <a:t>151</a:t>
            </a:r>
          </a:p>
        </p:txBody>
      </p:sp>
      <p:sp>
        <p:nvSpPr>
          <p:cNvPr id="39" name="TextBox 38"/>
          <p:cNvSpPr txBox="1"/>
          <p:nvPr/>
        </p:nvSpPr>
        <p:spPr>
          <a:xfrm>
            <a:off x="10131552" y="5522976"/>
            <a:ext cx="1920240" cy="365760"/>
          </a:xfrm>
          <a:prstGeom prst="rect">
            <a:avLst/>
          </a:prstGeom>
          <a:noFill/>
        </p:spPr>
        <p:txBody>
          <a:bodyPr wrap="square" lIns="0" rIns="0" tIns="0" bIns="0">
            <a:spAutoFit/>
          </a:bodyPr>
          <a:lstStyle/>
          <a:p>
            <a:pPr algn="l">
              <a:defRPr sz="1250" b="1" i="0">
                <a:solidFill>
                  <a:srgbClr val="FBF9F5"/>
                </a:solidFill>
                <a:latin typeface="Segoe UI"/>
              </a:defRPr>
            </a:pPr>
            <a:r>
              <a:t>Kịch bản kiểm thử tự động</a:t>
            </a:r>
          </a:p>
        </p:txBody>
      </p:sp>
      <p:sp>
        <p:nvSpPr>
          <p:cNvPr id="40" name="TextBox 39"/>
          <p:cNvSpPr txBox="1"/>
          <p:nvPr/>
        </p:nvSpPr>
        <p:spPr>
          <a:xfrm>
            <a:off x="10131552" y="5888736"/>
            <a:ext cx="1920240" cy="685800"/>
          </a:xfrm>
          <a:prstGeom prst="rect">
            <a:avLst/>
          </a:prstGeom>
          <a:noFill/>
        </p:spPr>
        <p:txBody>
          <a:bodyPr wrap="square" lIns="0" rIns="0" tIns="0" bIns="0">
            <a:spAutoFit/>
          </a:bodyPr>
          <a:lstStyle/>
          <a:p>
            <a:pPr algn="l">
              <a:defRPr sz="1000" b="0" i="0">
                <a:solidFill>
                  <a:srgbClr val="F2ECE1"/>
                </a:solidFill>
                <a:latin typeface="Segoe UI"/>
              </a:defRPr>
            </a:pPr>
            <a:r>
              <a:t>129 Pytest · 16 Vitest · 06 Playwright E2E</a:t>
            </a:r>
          </a:p>
        </p:txBody>
      </p:sp>
      <p:sp>
        <p:nvSpPr>
          <p:cNvPr id="41" name="TextBox 40"/>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F2ECE1"/>
                </a:solidFill>
                <a:latin typeface="Georgia"/>
              </a:defRPr>
            </a:pPr>
            <a: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943600" cy="274320"/>
          </a:xfrm>
          <a:prstGeom prst="rect">
            <a:avLst/>
          </a:prstGeom>
          <a:noFill/>
        </p:spPr>
        <p:txBody>
          <a:bodyPr wrap="square" lIns="0" rIns="0" tIns="0" bIns="0">
            <a:spAutoFit/>
          </a:bodyPr>
          <a:lstStyle/>
          <a:p>
            <a:pPr algn="l">
              <a:defRPr sz="950" b="1" i="0">
                <a:solidFill>
                  <a:srgbClr val="C85A32"/>
                </a:solidFill>
                <a:latin typeface="Segoe UI"/>
              </a:defRPr>
            </a:pPr>
            <a:r>
              <a:t>01 · BỐI CẢNH &amp; ĐỘNG LỰC NGHIÊN CỨU</a:t>
            </a:r>
          </a:p>
        </p:txBody>
      </p:sp>
      <p:sp>
        <p:nvSpPr>
          <p:cNvPr id="4" name="TextBox 3"/>
          <p:cNvSpPr txBox="1"/>
          <p:nvPr/>
        </p:nvSpPr>
        <p:spPr>
          <a:xfrm>
            <a:off x="658368" y="804672"/>
            <a:ext cx="6217920" cy="1143000"/>
          </a:xfrm>
          <a:prstGeom prst="rect">
            <a:avLst/>
          </a:prstGeom>
          <a:noFill/>
        </p:spPr>
        <p:txBody>
          <a:bodyPr wrap="square" lIns="0" rIns="0" tIns="0" bIns="0">
            <a:spAutoFit/>
          </a:bodyPr>
          <a:lstStyle/>
          <a:p>
            <a:pPr algn="l">
              <a:defRPr sz="3200" b="1" i="0">
                <a:solidFill>
                  <a:srgbClr val="231F1E"/>
                </a:solidFill>
                <a:latin typeface="Georgia"/>
              </a:defRPr>
            </a:pPr>
            <a:r>
              <a:t>Ba điểm nghẽn cốt lõi trong</a:t>
            </a:r>
            <a:br/>
            <a:r>
              <a:t>vận hành Marketing đa kênh</a:t>
            </a:r>
          </a:p>
        </p:txBody>
      </p:sp>
      <p:sp>
        <p:nvSpPr>
          <p:cNvPr id="5" name="TextBox 4"/>
          <p:cNvSpPr txBox="1"/>
          <p:nvPr/>
        </p:nvSpPr>
        <p:spPr>
          <a:xfrm>
            <a:off x="7132320" y="960120"/>
            <a:ext cx="4389120" cy="914400"/>
          </a:xfrm>
          <a:prstGeom prst="rect">
            <a:avLst/>
          </a:prstGeom>
          <a:noFill/>
        </p:spPr>
        <p:txBody>
          <a:bodyPr wrap="square" lIns="0" rIns="0" tIns="0" bIns="0">
            <a:spAutoFit/>
          </a:bodyPr>
          <a:lstStyle/>
          <a:p>
            <a:pPr algn="l">
              <a:defRPr sz="1300" b="0" i="0">
                <a:solidFill>
                  <a:srgbClr val="4A443F"/>
                </a:solidFill>
                <a:latin typeface="Segoe UI"/>
              </a:defRPr>
            </a:pPr>
            <a:r>
              <a:t>Các đội ngũ tiếp thị vừa và nhỏ (SME) đang phải đánh đổi giữa tốc độ sản xuất nội dung và sự an toàn thương hiệu khi thiếu một hệ thống quản trị đồng nhất.</a:t>
            </a:r>
          </a:p>
        </p:txBody>
      </p:sp>
      <p:sp>
        <p:nvSpPr>
          <p:cNvPr id="6" name="Rectangle 5"/>
          <p:cNvSpPr/>
          <p:nvPr/>
        </p:nvSpPr>
        <p:spPr>
          <a:xfrm>
            <a:off x="658368" y="2148840"/>
            <a:ext cx="1086307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87952" y="2423160"/>
            <a:ext cx="10972" cy="3840480"/>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36992" y="2423160"/>
            <a:ext cx="10972" cy="3840480"/>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423160"/>
            <a:ext cx="3291840" cy="685800"/>
          </a:xfrm>
          <a:prstGeom prst="rect">
            <a:avLst/>
          </a:prstGeom>
          <a:noFill/>
        </p:spPr>
        <p:txBody>
          <a:bodyPr wrap="square" lIns="0" rIns="0" tIns="0" bIns="0">
            <a:spAutoFit/>
          </a:bodyPr>
          <a:lstStyle/>
          <a:p>
            <a:pPr algn="l">
              <a:defRPr sz="4400" b="1" i="0">
                <a:solidFill>
                  <a:srgbClr val="C85A32"/>
                </a:solidFill>
                <a:latin typeface="Georgia"/>
              </a:defRPr>
            </a:pPr>
            <a:r>
              <a:t>01</a:t>
            </a:r>
          </a:p>
        </p:txBody>
      </p:sp>
      <p:sp>
        <p:nvSpPr>
          <p:cNvPr id="10" name="TextBox 9"/>
          <p:cNvSpPr txBox="1"/>
          <p:nvPr/>
        </p:nvSpPr>
        <p:spPr>
          <a:xfrm>
            <a:off x="658368" y="3246120"/>
            <a:ext cx="3291840" cy="685800"/>
          </a:xfrm>
          <a:prstGeom prst="rect">
            <a:avLst/>
          </a:prstGeom>
          <a:noFill/>
        </p:spPr>
        <p:txBody>
          <a:bodyPr wrap="square" lIns="0" rIns="0" tIns="0" bIns="0">
            <a:spAutoFit/>
          </a:bodyPr>
          <a:lstStyle/>
          <a:p>
            <a:pPr algn="l">
              <a:defRPr sz="1900" b="1" i="0">
                <a:solidFill>
                  <a:srgbClr val="231F1E"/>
                </a:solidFill>
                <a:latin typeface="Georgia"/>
              </a:defRPr>
            </a:pPr>
            <a:r>
              <a:t>Phân mảnh dữ liệu &amp; sai lệch công thức KPI</a:t>
            </a:r>
          </a:p>
        </p:txBody>
      </p:sp>
      <p:sp>
        <p:nvSpPr>
          <p:cNvPr id="11" name="TextBox 10"/>
          <p:cNvSpPr txBox="1"/>
          <p:nvPr/>
        </p:nvSpPr>
        <p:spPr>
          <a:xfrm>
            <a:off x="658368" y="4005072"/>
            <a:ext cx="3291840" cy="1508760"/>
          </a:xfrm>
          <a:prstGeom prst="rect">
            <a:avLst/>
          </a:prstGeom>
          <a:noFill/>
        </p:spPr>
        <p:txBody>
          <a:bodyPr wrap="square" lIns="0" rIns="0" tIns="0" bIns="0">
            <a:spAutoFit/>
          </a:bodyPr>
          <a:lstStyle/>
          <a:p>
            <a:pPr algn="l">
              <a:defRPr sz="1150" b="0" i="0">
                <a:solidFill>
                  <a:srgbClr val="4A443F"/>
                </a:solidFill>
                <a:latin typeface="Segoe UI"/>
              </a:defRPr>
            </a:pPr>
            <a:r>
              <a:t>Kế hoạch chiến dịch, bản nháp bài viết và báo cáo quảng cáo nằm rời rạc trên nhiều bảng tính thủ công.</a:t>
            </a:r>
            <a:br/>
            <a:br/>
            <a:r>
              <a:t>Việc nhập tay các chỉ số tỷ lệ dễ dẫn đến sai lệch công thức hoặc vi phạm logic phễu chuyển đổi.</a:t>
            </a:r>
          </a:p>
        </p:txBody>
      </p:sp>
      <p:sp>
        <p:nvSpPr>
          <p:cNvPr id="12" name="Rectangle 11"/>
          <p:cNvSpPr/>
          <p:nvPr/>
        </p:nvSpPr>
        <p:spPr>
          <a:xfrm>
            <a:off x="658368" y="5687568"/>
            <a:ext cx="32918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33872"/>
            <a:ext cx="3291840" cy="365760"/>
          </a:xfrm>
          <a:prstGeom prst="rect">
            <a:avLst/>
          </a:prstGeom>
          <a:noFill/>
        </p:spPr>
        <p:txBody>
          <a:bodyPr wrap="square" lIns="0" rIns="0" tIns="0" bIns="0">
            <a:spAutoFit/>
          </a:bodyPr>
          <a:lstStyle/>
          <a:p>
            <a:pPr algn="l">
              <a:defRPr sz="1500" b="1" i="0">
                <a:solidFill>
                  <a:srgbClr val="1E6B52"/>
                </a:solidFill>
                <a:latin typeface="Georgia"/>
              </a:defRPr>
            </a:pPr>
            <a:r>
              <a:t>Tự động suy diễn CTR · CVR · CPA</a:t>
            </a:r>
          </a:p>
        </p:txBody>
      </p:sp>
      <p:sp>
        <p:nvSpPr>
          <p:cNvPr id="14" name="TextBox 13"/>
          <p:cNvSpPr txBox="1"/>
          <p:nvPr/>
        </p:nvSpPr>
        <p:spPr>
          <a:xfrm>
            <a:off x="4407408" y="2423160"/>
            <a:ext cx="3291840" cy="685800"/>
          </a:xfrm>
          <a:prstGeom prst="rect">
            <a:avLst/>
          </a:prstGeom>
          <a:noFill/>
        </p:spPr>
        <p:txBody>
          <a:bodyPr wrap="square" lIns="0" rIns="0" tIns="0" bIns="0">
            <a:spAutoFit/>
          </a:bodyPr>
          <a:lstStyle/>
          <a:p>
            <a:pPr algn="l">
              <a:defRPr sz="4400" b="1" i="0">
                <a:solidFill>
                  <a:srgbClr val="C85A32"/>
                </a:solidFill>
                <a:latin typeface="Georgia"/>
              </a:defRPr>
            </a:pPr>
            <a:r>
              <a:t>02</a:t>
            </a:r>
          </a:p>
        </p:txBody>
      </p:sp>
      <p:sp>
        <p:nvSpPr>
          <p:cNvPr id="15" name="TextBox 14"/>
          <p:cNvSpPr txBox="1"/>
          <p:nvPr/>
        </p:nvSpPr>
        <p:spPr>
          <a:xfrm>
            <a:off x="4407408" y="3246120"/>
            <a:ext cx="3291840" cy="685800"/>
          </a:xfrm>
          <a:prstGeom prst="rect">
            <a:avLst/>
          </a:prstGeom>
          <a:noFill/>
        </p:spPr>
        <p:txBody>
          <a:bodyPr wrap="square" lIns="0" rIns="0" tIns="0" bIns="0">
            <a:spAutoFit/>
          </a:bodyPr>
          <a:lstStyle/>
          <a:p>
            <a:pPr algn="l">
              <a:defRPr sz="1900" b="1" i="0">
                <a:solidFill>
                  <a:srgbClr val="231F1E"/>
                </a:solidFill>
                <a:latin typeface="Georgia"/>
              </a:defRPr>
            </a:pPr>
            <a:r>
              <a:t>Rủi ro ngôn từ nhạy cảm &amp; thiếu kiểm soát duyệt</a:t>
            </a:r>
          </a:p>
        </p:txBody>
      </p:sp>
      <p:sp>
        <p:nvSpPr>
          <p:cNvPr id="16" name="TextBox 15"/>
          <p:cNvSpPr txBox="1"/>
          <p:nvPr/>
        </p:nvSpPr>
        <p:spPr>
          <a:xfrm>
            <a:off x="4407408" y="4005072"/>
            <a:ext cx="3291840" cy="1508760"/>
          </a:xfrm>
          <a:prstGeom prst="rect">
            <a:avLst/>
          </a:prstGeom>
          <a:noFill/>
        </p:spPr>
        <p:txBody>
          <a:bodyPr wrap="square" lIns="0" rIns="0" tIns="0" bIns="0">
            <a:spAutoFit/>
          </a:bodyPr>
          <a:lstStyle/>
          <a:p>
            <a:pPr algn="l">
              <a:defRPr sz="1150" b="0" i="0">
                <a:solidFill>
                  <a:srgbClr val="4A443F"/>
                </a:solidFill>
                <a:latin typeface="Segoe UI"/>
              </a:defRPr>
            </a:pPr>
            <a:r>
              <a:t>Quy trình duyệt bài qua tin nhắn thiếu trạng thái rõ ràng và không lưu vết trách nhiệm khi xảy ra sự cố truyền thông.</a:t>
            </a:r>
            <a:br/>
            <a:br/>
            <a:r>
              <a:t>Nhân sự dễ vô tình sử dụng cụm từ quảng cáo quá đà hoặc tự phê duyệt bài viết của chính mình.</a:t>
            </a:r>
          </a:p>
        </p:txBody>
      </p:sp>
      <p:sp>
        <p:nvSpPr>
          <p:cNvPr id="17" name="Rectangle 16"/>
          <p:cNvSpPr/>
          <p:nvPr/>
        </p:nvSpPr>
        <p:spPr>
          <a:xfrm>
            <a:off x="4407408" y="5687568"/>
            <a:ext cx="32918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7408" y="5833872"/>
            <a:ext cx="3291840" cy="365760"/>
          </a:xfrm>
          <a:prstGeom prst="rect">
            <a:avLst/>
          </a:prstGeom>
          <a:noFill/>
        </p:spPr>
        <p:txBody>
          <a:bodyPr wrap="square" lIns="0" rIns="0" tIns="0" bIns="0">
            <a:spAutoFit/>
          </a:bodyPr>
          <a:lstStyle/>
          <a:p>
            <a:pPr algn="l">
              <a:defRPr sz="1500" b="1" i="0">
                <a:solidFill>
                  <a:srgbClr val="C85A32"/>
                </a:solidFill>
                <a:latin typeface="Georgia"/>
              </a:defRPr>
            </a:pPr>
            <a:r>
              <a:t>Rào chắn từ cấm &amp; Duyệt 4 mắt</a:t>
            </a:r>
          </a:p>
        </p:txBody>
      </p:sp>
      <p:sp>
        <p:nvSpPr>
          <p:cNvPr id="19" name="TextBox 18"/>
          <p:cNvSpPr txBox="1"/>
          <p:nvPr/>
        </p:nvSpPr>
        <p:spPr>
          <a:xfrm>
            <a:off x="8156448" y="2423160"/>
            <a:ext cx="3291840" cy="685800"/>
          </a:xfrm>
          <a:prstGeom prst="rect">
            <a:avLst/>
          </a:prstGeom>
          <a:noFill/>
        </p:spPr>
        <p:txBody>
          <a:bodyPr wrap="square" lIns="0" rIns="0" tIns="0" bIns="0">
            <a:spAutoFit/>
          </a:bodyPr>
          <a:lstStyle/>
          <a:p>
            <a:pPr algn="l">
              <a:defRPr sz="4400" b="1" i="0">
                <a:solidFill>
                  <a:srgbClr val="C85A32"/>
                </a:solidFill>
                <a:latin typeface="Georgia"/>
              </a:defRPr>
            </a:pPr>
            <a:r>
              <a:t>03</a:t>
            </a:r>
          </a:p>
        </p:txBody>
      </p:sp>
      <p:sp>
        <p:nvSpPr>
          <p:cNvPr id="20" name="TextBox 19"/>
          <p:cNvSpPr txBox="1"/>
          <p:nvPr/>
        </p:nvSpPr>
        <p:spPr>
          <a:xfrm>
            <a:off x="8156448" y="3246120"/>
            <a:ext cx="3291840" cy="685800"/>
          </a:xfrm>
          <a:prstGeom prst="rect">
            <a:avLst/>
          </a:prstGeom>
          <a:noFill/>
        </p:spPr>
        <p:txBody>
          <a:bodyPr wrap="square" lIns="0" rIns="0" tIns="0" bIns="0">
            <a:spAutoFit/>
          </a:bodyPr>
          <a:lstStyle/>
          <a:p>
            <a:pPr algn="l">
              <a:defRPr sz="1900" b="1" i="0">
                <a:solidFill>
                  <a:srgbClr val="231F1E"/>
                </a:solidFill>
                <a:latin typeface="Georgia"/>
              </a:defRPr>
            </a:pPr>
            <a:r>
              <a:t>Ảo giác số liệu khi dùng Chatbot AI rời rạc</a:t>
            </a:r>
          </a:p>
        </p:txBody>
      </p:sp>
      <p:sp>
        <p:nvSpPr>
          <p:cNvPr id="21" name="TextBox 20"/>
          <p:cNvSpPr txBox="1"/>
          <p:nvPr/>
        </p:nvSpPr>
        <p:spPr>
          <a:xfrm>
            <a:off x="8156448" y="4005072"/>
            <a:ext cx="3291840" cy="1508760"/>
          </a:xfrm>
          <a:prstGeom prst="rect">
            <a:avLst/>
          </a:prstGeom>
          <a:noFill/>
        </p:spPr>
        <p:txBody>
          <a:bodyPr wrap="square" lIns="0" rIns="0" tIns="0" bIns="0">
            <a:spAutoFit/>
          </a:bodyPr>
          <a:lstStyle/>
          <a:p>
            <a:pPr algn="l">
              <a:defRPr sz="1150" b="0" i="0">
                <a:solidFill>
                  <a:srgbClr val="4A443F"/>
                </a:solidFill>
                <a:latin typeface="Segoe UI"/>
              </a:defRPr>
            </a:pPr>
            <a:r>
              <a:t>Các công cụ AI hội thoại bên ngoài hoàn toàn tách biệt với cơ sở dữ liệu chiến dịch và hồ sơ thương hiệu của doanh nghiệp.</a:t>
            </a:r>
            <a:br/>
            <a:br/>
            <a:r>
              <a:t>AI thường tự bịa đặt số liệu KPI (Hallucination) và tiềm ẩn nguy cơ mất kiểm soát khi ghi dữ liệu.</a:t>
            </a:r>
          </a:p>
        </p:txBody>
      </p:sp>
      <p:sp>
        <p:nvSpPr>
          <p:cNvPr id="22" name="Rectangle 21"/>
          <p:cNvSpPr/>
          <p:nvPr/>
        </p:nvSpPr>
        <p:spPr>
          <a:xfrm>
            <a:off x="8156448" y="5687568"/>
            <a:ext cx="32918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6448" y="5833872"/>
            <a:ext cx="3291840" cy="365760"/>
          </a:xfrm>
          <a:prstGeom prst="rect">
            <a:avLst/>
          </a:prstGeom>
          <a:noFill/>
        </p:spPr>
        <p:txBody>
          <a:bodyPr wrap="square" lIns="0" rIns="0" tIns="0" bIns="0">
            <a:spAutoFit/>
          </a:bodyPr>
          <a:lstStyle/>
          <a:p>
            <a:pPr algn="l">
              <a:defRPr sz="1500" b="1" i="0">
                <a:solidFill>
                  <a:srgbClr val="231F1E"/>
                </a:solidFill>
                <a:latin typeface="Georgia"/>
              </a:defRPr>
            </a:pPr>
            <a:r>
              <a:t>FastMCP Grounding &amp; Proposal-Only</a:t>
            </a:r>
          </a:p>
        </p:txBody>
      </p:sp>
      <p:sp>
        <p:nvSpPr>
          <p:cNvPr id="24" name="TextBox 23"/>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787067"/>
                </a:solidFill>
                <a:latin typeface="Georgia"/>
              </a:defRPr>
            </a:pPr>
            <a: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709160" cy="6858000"/>
          </a:xfrm>
          <a:prstGeom prst="rect">
            <a:avLst/>
          </a:prstGeom>
          <a:solidFill>
            <a:srgbClr val="F2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09160" y="0"/>
            <a:ext cx="748253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709160" y="0"/>
            <a:ext cx="10972" cy="6858000"/>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502920"/>
            <a:ext cx="3749039" cy="274320"/>
          </a:xfrm>
          <a:prstGeom prst="rect">
            <a:avLst/>
          </a:prstGeom>
          <a:noFill/>
        </p:spPr>
        <p:txBody>
          <a:bodyPr wrap="square" lIns="0" rIns="0" tIns="0" bIns="0">
            <a:spAutoFit/>
          </a:bodyPr>
          <a:lstStyle/>
          <a:p>
            <a:pPr algn="l">
              <a:defRPr sz="950" b="1" i="0">
                <a:solidFill>
                  <a:srgbClr val="C85A32"/>
                </a:solidFill>
                <a:latin typeface="Segoe UI"/>
              </a:defRPr>
            </a:pPr>
            <a:r>
              <a:t>01 · PHÂN QUYỀN TRÁCH NHIỆM (RBAC)</a:t>
            </a:r>
          </a:p>
        </p:txBody>
      </p:sp>
      <p:sp>
        <p:nvSpPr>
          <p:cNvPr id="6" name="TextBox 5"/>
          <p:cNvSpPr txBox="1"/>
          <p:nvPr/>
        </p:nvSpPr>
        <p:spPr>
          <a:xfrm>
            <a:off x="594360" y="804672"/>
            <a:ext cx="3749039" cy="1005840"/>
          </a:xfrm>
          <a:prstGeom prst="rect">
            <a:avLst/>
          </a:prstGeom>
          <a:noFill/>
        </p:spPr>
        <p:txBody>
          <a:bodyPr wrap="square" lIns="0" rIns="0" tIns="0" bIns="0">
            <a:spAutoFit/>
          </a:bodyPr>
          <a:lstStyle/>
          <a:p>
            <a:pPr algn="l">
              <a:defRPr sz="2800" b="1" i="0">
                <a:solidFill>
                  <a:srgbClr val="231F1E"/>
                </a:solidFill>
                <a:latin typeface="Georgia"/>
              </a:defRPr>
            </a:pPr>
            <a:r>
              <a:t>Cơ chế kiểm soát</a:t>
            </a:r>
            <a:br/>
            <a:r>
              <a:t>hai vai trò độc lập</a:t>
            </a:r>
          </a:p>
        </p:txBody>
      </p:sp>
      <p:sp>
        <p:nvSpPr>
          <p:cNvPr id="7" name="TextBox 6"/>
          <p:cNvSpPr txBox="1"/>
          <p:nvPr/>
        </p:nvSpPr>
        <p:spPr>
          <a:xfrm>
            <a:off x="594360" y="1874519"/>
            <a:ext cx="3749039" cy="640080"/>
          </a:xfrm>
          <a:prstGeom prst="rect">
            <a:avLst/>
          </a:prstGeom>
          <a:noFill/>
        </p:spPr>
        <p:txBody>
          <a:bodyPr wrap="square" lIns="0" rIns="0" tIns="0" bIns="0">
            <a:spAutoFit/>
          </a:bodyPr>
          <a:lstStyle/>
          <a:p>
            <a:pPr algn="l">
              <a:defRPr sz="1150" b="0" i="0">
                <a:solidFill>
                  <a:srgbClr val="4A443F"/>
                </a:solidFill>
                <a:latin typeface="Segoe UI"/>
              </a:defRPr>
            </a:pPr>
            <a:r>
              <a:t>Tách biệt hoàn toàn quyền khởi tạo nội dung và quyền phê duyệt xuất bản nhằm bảo đảm tính minh bạch.</a:t>
            </a:r>
          </a:p>
        </p:txBody>
      </p:sp>
      <p:sp>
        <p:nvSpPr>
          <p:cNvPr id="8" name="Rectangle 7"/>
          <p:cNvSpPr/>
          <p:nvPr/>
        </p:nvSpPr>
        <p:spPr>
          <a:xfrm>
            <a:off x="594360" y="2697480"/>
            <a:ext cx="3749039"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852928"/>
            <a:ext cx="2834640" cy="365760"/>
          </a:xfrm>
          <a:prstGeom prst="rect">
            <a:avLst/>
          </a:prstGeom>
          <a:noFill/>
        </p:spPr>
        <p:txBody>
          <a:bodyPr wrap="square" lIns="0" rIns="0" tIns="0" bIns="0">
            <a:spAutoFit/>
          </a:bodyPr>
          <a:lstStyle/>
          <a:p>
            <a:pPr algn="l">
              <a:defRPr sz="1800" b="1" i="0">
                <a:solidFill>
                  <a:srgbClr val="231F1E"/>
                </a:solidFill>
                <a:latin typeface="Georgia"/>
              </a:defRPr>
            </a:pPr>
            <a:r>
              <a:t>01. Chuyên viên Tiếp thị</a:t>
            </a:r>
          </a:p>
        </p:txBody>
      </p:sp>
      <p:sp>
        <p:nvSpPr>
          <p:cNvPr id="10" name="TextBox 9"/>
          <p:cNvSpPr txBox="1"/>
          <p:nvPr/>
        </p:nvSpPr>
        <p:spPr>
          <a:xfrm>
            <a:off x="3337560" y="2907792"/>
            <a:ext cx="1005840" cy="274320"/>
          </a:xfrm>
          <a:prstGeom prst="rect">
            <a:avLst/>
          </a:prstGeom>
          <a:noFill/>
        </p:spPr>
        <p:txBody>
          <a:bodyPr wrap="square" lIns="0" rIns="0" tIns="0" bIns="0">
            <a:spAutoFit/>
          </a:bodyPr>
          <a:lstStyle/>
          <a:p>
            <a:pPr algn="r">
              <a:defRPr sz="900" b="1" i="0">
                <a:solidFill>
                  <a:srgbClr val="C85A32"/>
                </a:solidFill>
                <a:latin typeface="Segoe UI"/>
              </a:defRPr>
            </a:pPr>
            <a:r>
              <a:t>MARKETER</a:t>
            </a:r>
          </a:p>
        </p:txBody>
      </p:sp>
      <p:sp>
        <p:nvSpPr>
          <p:cNvPr id="11" name="TextBox 10"/>
          <p:cNvSpPr txBox="1"/>
          <p:nvPr/>
        </p:nvSpPr>
        <p:spPr>
          <a:xfrm>
            <a:off x="594360" y="3273552"/>
            <a:ext cx="3749039" cy="822960"/>
          </a:xfrm>
          <a:prstGeom prst="rect">
            <a:avLst/>
          </a:prstGeom>
          <a:noFill/>
        </p:spPr>
        <p:txBody>
          <a:bodyPr wrap="square" lIns="0" rIns="0" tIns="0" bIns="0">
            <a:spAutoFit/>
          </a:bodyPr>
          <a:lstStyle/>
          <a:p>
            <a:pPr algn="l">
              <a:defRPr sz="1150" b="0" i="0">
                <a:solidFill>
                  <a:srgbClr val="4A443F"/>
                </a:solidFill>
                <a:latin typeface="Segoe UI"/>
              </a:defRPr>
            </a:pPr>
            <a:r>
              <a:t>Soạn thảo bản nháp đa kênh, cộng tác với Trợ lý AI để tối ưu nội dung, kiểm tra từ khóa cấm và gửi yêu cầu phê duyệt.</a:t>
            </a:r>
          </a:p>
        </p:txBody>
      </p:sp>
      <p:sp>
        <p:nvSpPr>
          <p:cNvPr id="12" name="Rectangle 11"/>
          <p:cNvSpPr/>
          <p:nvPr/>
        </p:nvSpPr>
        <p:spPr>
          <a:xfrm>
            <a:off x="594360" y="4224528"/>
            <a:ext cx="3749039"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370832"/>
            <a:ext cx="2834640" cy="365760"/>
          </a:xfrm>
          <a:prstGeom prst="rect">
            <a:avLst/>
          </a:prstGeom>
          <a:noFill/>
        </p:spPr>
        <p:txBody>
          <a:bodyPr wrap="square" lIns="0" rIns="0" tIns="0" bIns="0">
            <a:spAutoFit/>
          </a:bodyPr>
          <a:lstStyle/>
          <a:p>
            <a:pPr algn="l">
              <a:defRPr sz="1800" b="1" i="0">
                <a:solidFill>
                  <a:srgbClr val="231F1E"/>
                </a:solidFill>
                <a:latin typeface="Georgia"/>
              </a:defRPr>
            </a:pPr>
            <a:r>
              <a:t>02. Quản lý Chiến dịch</a:t>
            </a:r>
          </a:p>
        </p:txBody>
      </p:sp>
      <p:sp>
        <p:nvSpPr>
          <p:cNvPr id="14" name="TextBox 13"/>
          <p:cNvSpPr txBox="1"/>
          <p:nvPr/>
        </p:nvSpPr>
        <p:spPr>
          <a:xfrm>
            <a:off x="3337560" y="4425696"/>
            <a:ext cx="1005840" cy="274320"/>
          </a:xfrm>
          <a:prstGeom prst="rect">
            <a:avLst/>
          </a:prstGeom>
          <a:noFill/>
        </p:spPr>
        <p:txBody>
          <a:bodyPr wrap="square" lIns="0" rIns="0" tIns="0" bIns="0">
            <a:spAutoFit/>
          </a:bodyPr>
          <a:lstStyle/>
          <a:p>
            <a:pPr algn="r">
              <a:defRPr sz="900" b="1" i="0">
                <a:solidFill>
                  <a:srgbClr val="1E6B52"/>
                </a:solidFill>
                <a:latin typeface="Segoe UI"/>
              </a:defRPr>
            </a:pPr>
            <a:r>
              <a:t>MANAGER</a:t>
            </a:r>
          </a:p>
        </p:txBody>
      </p:sp>
      <p:sp>
        <p:nvSpPr>
          <p:cNvPr id="15" name="TextBox 14"/>
          <p:cNvSpPr txBox="1"/>
          <p:nvPr/>
        </p:nvSpPr>
        <p:spPr>
          <a:xfrm>
            <a:off x="594360" y="4791456"/>
            <a:ext cx="3749039" cy="868680"/>
          </a:xfrm>
          <a:prstGeom prst="rect">
            <a:avLst/>
          </a:prstGeom>
          <a:noFill/>
        </p:spPr>
        <p:txBody>
          <a:bodyPr wrap="square" lIns="0" rIns="0" tIns="0" bIns="0">
            <a:spAutoFit/>
          </a:bodyPr>
          <a:lstStyle/>
          <a:p>
            <a:pPr algn="l">
              <a:defRPr sz="1150" b="0" i="0">
                <a:solidFill>
                  <a:srgbClr val="4A443F"/>
                </a:solidFill>
                <a:latin typeface="Segoe UI"/>
              </a:defRPr>
            </a:pPr>
            <a:r>
              <a:t>Thiết lập ngân sách, phê duyệt 4 mắt (bắt buộc khác tác giả), điều phối lịch đăng, nhập báo cáo CSV và cấu hình Thương hiệu.</a:t>
            </a:r>
          </a:p>
        </p:txBody>
      </p:sp>
      <p:sp>
        <p:nvSpPr>
          <p:cNvPr id="16" name="Rectangle 15"/>
          <p:cNvSpPr/>
          <p:nvPr/>
        </p:nvSpPr>
        <p:spPr>
          <a:xfrm>
            <a:off x="594360" y="5779008"/>
            <a:ext cx="3749039"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5925312"/>
            <a:ext cx="3749039" cy="457200"/>
          </a:xfrm>
          <a:prstGeom prst="rect">
            <a:avLst/>
          </a:prstGeom>
          <a:noFill/>
        </p:spPr>
        <p:txBody>
          <a:bodyPr wrap="square" lIns="0" rIns="0" tIns="0" bIns="0">
            <a:spAutoFit/>
          </a:bodyPr>
          <a:lstStyle/>
          <a:p>
            <a:pPr algn="l">
              <a:defRPr sz="1100" b="1" i="0">
                <a:solidFill>
                  <a:srgbClr val="231F1E"/>
                </a:solidFill>
                <a:latin typeface="Segoe UI"/>
              </a:defRPr>
            </a:pPr>
            <a:r>
              <a:t>Bất biến: Tác giả không thể tự phê duyệt bài viết của chính mình (HTTP 403).</a:t>
            </a:r>
          </a:p>
        </p:txBody>
      </p:sp>
      <p:sp>
        <p:nvSpPr>
          <p:cNvPr id="18" name="TextBox 17"/>
          <p:cNvSpPr txBox="1"/>
          <p:nvPr/>
        </p:nvSpPr>
        <p:spPr>
          <a:xfrm>
            <a:off x="5230368" y="502920"/>
            <a:ext cx="6309360" cy="274320"/>
          </a:xfrm>
          <a:prstGeom prst="rect">
            <a:avLst/>
          </a:prstGeom>
          <a:noFill/>
        </p:spPr>
        <p:txBody>
          <a:bodyPr wrap="square" lIns="0" rIns="0" tIns="0" bIns="0">
            <a:spAutoFit/>
          </a:bodyPr>
          <a:lstStyle/>
          <a:p>
            <a:pPr algn="l">
              <a:defRPr sz="950" b="1" i="0">
                <a:solidFill>
                  <a:srgbClr val="1E6B52"/>
                </a:solidFill>
                <a:latin typeface="Segoe UI"/>
              </a:defRPr>
            </a:pPr>
            <a:r>
              <a:t>PHẠM VI ĐỀ TÀI 80300 · ĐỒNG BỘ 7 KÊNH TIẾP THỊ</a:t>
            </a:r>
          </a:p>
        </p:txBody>
      </p:sp>
      <p:sp>
        <p:nvSpPr>
          <p:cNvPr id="19" name="TextBox 18"/>
          <p:cNvSpPr txBox="1"/>
          <p:nvPr/>
        </p:nvSpPr>
        <p:spPr>
          <a:xfrm>
            <a:off x="5230368" y="804672"/>
            <a:ext cx="6309360" cy="594360"/>
          </a:xfrm>
          <a:prstGeom prst="rect">
            <a:avLst/>
          </a:prstGeom>
          <a:noFill/>
        </p:spPr>
        <p:txBody>
          <a:bodyPr wrap="square" lIns="0" rIns="0" tIns="0" bIns="0">
            <a:spAutoFit/>
          </a:bodyPr>
          <a:lstStyle/>
          <a:p>
            <a:pPr algn="l">
              <a:defRPr sz="2800" b="1" i="0">
                <a:solidFill>
                  <a:srgbClr val="231F1E"/>
                </a:solidFill>
                <a:latin typeface="Georgia"/>
              </a:defRPr>
            </a:pPr>
            <a:r>
              <a:t>Chuẩn hóa định dạng nội dung và chỉ số đo lường</a:t>
            </a:r>
          </a:p>
        </p:txBody>
      </p:sp>
      <p:sp>
        <p:nvSpPr>
          <p:cNvPr id="20" name="TextBox 19"/>
          <p:cNvSpPr txBox="1"/>
          <p:nvPr/>
        </p:nvSpPr>
        <p:spPr>
          <a:xfrm>
            <a:off x="5230368" y="1664208"/>
            <a:ext cx="384048" cy="320040"/>
          </a:xfrm>
          <a:prstGeom prst="rect">
            <a:avLst/>
          </a:prstGeom>
          <a:noFill/>
        </p:spPr>
        <p:txBody>
          <a:bodyPr wrap="square" lIns="0" rIns="0" tIns="0" bIns="0">
            <a:spAutoFit/>
          </a:bodyPr>
          <a:lstStyle/>
          <a:p>
            <a:pPr algn="l">
              <a:defRPr sz="1300" b="1" i="0">
                <a:solidFill>
                  <a:srgbClr val="C85A32"/>
                </a:solidFill>
                <a:latin typeface="Georgia"/>
              </a:defRPr>
            </a:pPr>
            <a:r>
              <a:t>01</a:t>
            </a:r>
          </a:p>
        </p:txBody>
      </p:sp>
      <p:sp>
        <p:nvSpPr>
          <p:cNvPr id="21" name="TextBox 20"/>
          <p:cNvSpPr txBox="1"/>
          <p:nvPr/>
        </p:nvSpPr>
        <p:spPr>
          <a:xfrm>
            <a:off x="5650992" y="1664208"/>
            <a:ext cx="1234440" cy="320040"/>
          </a:xfrm>
          <a:prstGeom prst="rect">
            <a:avLst/>
          </a:prstGeom>
          <a:noFill/>
        </p:spPr>
        <p:txBody>
          <a:bodyPr wrap="square" lIns="0" rIns="0" tIns="0" bIns="0">
            <a:spAutoFit/>
          </a:bodyPr>
          <a:lstStyle/>
          <a:p>
            <a:pPr algn="l">
              <a:defRPr sz="1300" b="1" i="0">
                <a:solidFill>
                  <a:srgbClr val="231F1E"/>
                </a:solidFill>
                <a:latin typeface="Segoe UI"/>
              </a:defRPr>
            </a:pPr>
            <a:r>
              <a:t>Facebook</a:t>
            </a:r>
          </a:p>
        </p:txBody>
      </p:sp>
      <p:sp>
        <p:nvSpPr>
          <p:cNvPr id="22" name="TextBox 21"/>
          <p:cNvSpPr txBox="1"/>
          <p:nvPr/>
        </p:nvSpPr>
        <p:spPr>
          <a:xfrm>
            <a:off x="6903720" y="1664208"/>
            <a:ext cx="2971800" cy="320040"/>
          </a:xfrm>
          <a:prstGeom prst="rect">
            <a:avLst/>
          </a:prstGeom>
          <a:noFill/>
        </p:spPr>
        <p:txBody>
          <a:bodyPr wrap="square" lIns="0" rIns="0" tIns="0" bIns="0">
            <a:spAutoFit/>
          </a:bodyPr>
          <a:lstStyle/>
          <a:p>
            <a:pPr algn="l">
              <a:defRPr sz="1150" b="0" i="0">
                <a:solidFill>
                  <a:srgbClr val="4A443F"/>
                </a:solidFill>
                <a:latin typeface="Segoe UI"/>
              </a:defRPr>
            </a:pPr>
            <a:r>
              <a:t>Bài đăng Fanpage &amp; câu chuyện thương hiệu</a:t>
            </a:r>
          </a:p>
        </p:txBody>
      </p:sp>
      <p:sp>
        <p:nvSpPr>
          <p:cNvPr id="23" name="TextBox 22"/>
          <p:cNvSpPr txBox="1"/>
          <p:nvPr/>
        </p:nvSpPr>
        <p:spPr>
          <a:xfrm>
            <a:off x="9893808" y="1664208"/>
            <a:ext cx="1673352" cy="320040"/>
          </a:xfrm>
          <a:prstGeom prst="rect">
            <a:avLst/>
          </a:prstGeom>
          <a:noFill/>
        </p:spPr>
        <p:txBody>
          <a:bodyPr wrap="square" lIns="0" rIns="0" tIns="0" bIns="0">
            <a:spAutoFit/>
          </a:bodyPr>
          <a:lstStyle/>
          <a:p>
            <a:pPr algn="r">
              <a:defRPr sz="1000" b="1" i="0">
                <a:solidFill>
                  <a:srgbClr val="1E6B52"/>
                </a:solidFill>
                <a:latin typeface="Consolas"/>
              </a:defRPr>
            </a:pPr>
            <a:r>
              <a:t>Views · Clicks · CTR · CPA</a:t>
            </a:r>
          </a:p>
        </p:txBody>
      </p:sp>
      <p:sp>
        <p:nvSpPr>
          <p:cNvPr id="24" name="Rectangle 23"/>
          <p:cNvSpPr/>
          <p:nvPr/>
        </p:nvSpPr>
        <p:spPr>
          <a:xfrm>
            <a:off x="5230368" y="2103120"/>
            <a:ext cx="633679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30368" y="2249424"/>
            <a:ext cx="384048" cy="320040"/>
          </a:xfrm>
          <a:prstGeom prst="rect">
            <a:avLst/>
          </a:prstGeom>
          <a:noFill/>
        </p:spPr>
        <p:txBody>
          <a:bodyPr wrap="square" lIns="0" rIns="0" tIns="0" bIns="0">
            <a:spAutoFit/>
          </a:bodyPr>
          <a:lstStyle/>
          <a:p>
            <a:pPr algn="l">
              <a:defRPr sz="1300" b="1" i="0">
                <a:solidFill>
                  <a:srgbClr val="C85A32"/>
                </a:solidFill>
                <a:latin typeface="Georgia"/>
              </a:defRPr>
            </a:pPr>
            <a:r>
              <a:t>02</a:t>
            </a:r>
          </a:p>
        </p:txBody>
      </p:sp>
      <p:sp>
        <p:nvSpPr>
          <p:cNvPr id="26" name="TextBox 25"/>
          <p:cNvSpPr txBox="1"/>
          <p:nvPr/>
        </p:nvSpPr>
        <p:spPr>
          <a:xfrm>
            <a:off x="5650992" y="2249424"/>
            <a:ext cx="1234440" cy="320040"/>
          </a:xfrm>
          <a:prstGeom prst="rect">
            <a:avLst/>
          </a:prstGeom>
          <a:noFill/>
        </p:spPr>
        <p:txBody>
          <a:bodyPr wrap="square" lIns="0" rIns="0" tIns="0" bIns="0">
            <a:spAutoFit/>
          </a:bodyPr>
          <a:lstStyle/>
          <a:p>
            <a:pPr algn="l">
              <a:defRPr sz="1300" b="1" i="0">
                <a:solidFill>
                  <a:srgbClr val="231F1E"/>
                </a:solidFill>
                <a:latin typeface="Segoe UI"/>
              </a:defRPr>
            </a:pPr>
            <a:r>
              <a:t>Instagram</a:t>
            </a:r>
          </a:p>
        </p:txBody>
      </p:sp>
      <p:sp>
        <p:nvSpPr>
          <p:cNvPr id="27" name="TextBox 26"/>
          <p:cNvSpPr txBox="1"/>
          <p:nvPr/>
        </p:nvSpPr>
        <p:spPr>
          <a:xfrm>
            <a:off x="6903720" y="2249424"/>
            <a:ext cx="2971800" cy="320040"/>
          </a:xfrm>
          <a:prstGeom prst="rect">
            <a:avLst/>
          </a:prstGeom>
          <a:noFill/>
        </p:spPr>
        <p:txBody>
          <a:bodyPr wrap="square" lIns="0" rIns="0" tIns="0" bIns="0">
            <a:spAutoFit/>
          </a:bodyPr>
          <a:lstStyle/>
          <a:p>
            <a:pPr algn="l">
              <a:defRPr sz="1150" b="0" i="0">
                <a:solidFill>
                  <a:srgbClr val="4A443F"/>
                </a:solidFill>
                <a:latin typeface="Segoe UI"/>
              </a:defRPr>
            </a:pPr>
            <a:r>
              <a:t>Hình ảnh phong cách sống (Carousel) &amp; Reels</a:t>
            </a:r>
          </a:p>
        </p:txBody>
      </p:sp>
      <p:sp>
        <p:nvSpPr>
          <p:cNvPr id="28" name="TextBox 27"/>
          <p:cNvSpPr txBox="1"/>
          <p:nvPr/>
        </p:nvSpPr>
        <p:spPr>
          <a:xfrm>
            <a:off x="9893808" y="2249424"/>
            <a:ext cx="1673352" cy="320040"/>
          </a:xfrm>
          <a:prstGeom prst="rect">
            <a:avLst/>
          </a:prstGeom>
          <a:noFill/>
        </p:spPr>
        <p:txBody>
          <a:bodyPr wrap="square" lIns="0" rIns="0" tIns="0" bIns="0">
            <a:spAutoFit/>
          </a:bodyPr>
          <a:lstStyle/>
          <a:p>
            <a:pPr algn="r">
              <a:defRPr sz="1000" b="1" i="0">
                <a:solidFill>
                  <a:srgbClr val="1E6B52"/>
                </a:solidFill>
                <a:latin typeface="Consolas"/>
              </a:defRPr>
            </a:pPr>
            <a:r>
              <a:t>Views · Engagement · CTR</a:t>
            </a:r>
          </a:p>
        </p:txBody>
      </p:sp>
      <p:sp>
        <p:nvSpPr>
          <p:cNvPr id="29" name="Rectangle 28"/>
          <p:cNvSpPr/>
          <p:nvPr/>
        </p:nvSpPr>
        <p:spPr>
          <a:xfrm>
            <a:off x="5230368" y="2688336"/>
            <a:ext cx="633679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30368" y="2834640"/>
            <a:ext cx="384048" cy="320040"/>
          </a:xfrm>
          <a:prstGeom prst="rect">
            <a:avLst/>
          </a:prstGeom>
          <a:noFill/>
        </p:spPr>
        <p:txBody>
          <a:bodyPr wrap="square" lIns="0" rIns="0" tIns="0" bIns="0">
            <a:spAutoFit/>
          </a:bodyPr>
          <a:lstStyle/>
          <a:p>
            <a:pPr algn="l">
              <a:defRPr sz="1300" b="1" i="0">
                <a:solidFill>
                  <a:srgbClr val="C85A32"/>
                </a:solidFill>
                <a:latin typeface="Georgia"/>
              </a:defRPr>
            </a:pPr>
            <a:r>
              <a:t>03</a:t>
            </a:r>
          </a:p>
        </p:txBody>
      </p:sp>
      <p:sp>
        <p:nvSpPr>
          <p:cNvPr id="31" name="TextBox 30"/>
          <p:cNvSpPr txBox="1"/>
          <p:nvPr/>
        </p:nvSpPr>
        <p:spPr>
          <a:xfrm>
            <a:off x="5650992" y="2834640"/>
            <a:ext cx="1234440" cy="320040"/>
          </a:xfrm>
          <a:prstGeom prst="rect">
            <a:avLst/>
          </a:prstGeom>
          <a:noFill/>
        </p:spPr>
        <p:txBody>
          <a:bodyPr wrap="square" lIns="0" rIns="0" tIns="0" bIns="0">
            <a:spAutoFit/>
          </a:bodyPr>
          <a:lstStyle/>
          <a:p>
            <a:pPr algn="l">
              <a:defRPr sz="1300" b="1" i="0">
                <a:solidFill>
                  <a:srgbClr val="231F1E"/>
                </a:solidFill>
                <a:latin typeface="Segoe UI"/>
              </a:defRPr>
            </a:pPr>
            <a:r>
              <a:t>TikTok</a:t>
            </a:r>
          </a:p>
        </p:txBody>
      </p:sp>
      <p:sp>
        <p:nvSpPr>
          <p:cNvPr id="32" name="TextBox 31"/>
          <p:cNvSpPr txBox="1"/>
          <p:nvPr/>
        </p:nvSpPr>
        <p:spPr>
          <a:xfrm>
            <a:off x="6903720" y="2834640"/>
            <a:ext cx="2971800" cy="320040"/>
          </a:xfrm>
          <a:prstGeom prst="rect">
            <a:avLst/>
          </a:prstGeom>
          <a:noFill/>
        </p:spPr>
        <p:txBody>
          <a:bodyPr wrap="square" lIns="0" rIns="0" tIns="0" bIns="0">
            <a:spAutoFit/>
          </a:bodyPr>
          <a:lstStyle/>
          <a:p>
            <a:pPr algn="l">
              <a:defRPr sz="1150" b="0" i="0">
                <a:solidFill>
                  <a:srgbClr val="4A443F"/>
                </a:solidFill>
                <a:latin typeface="Segoe UI"/>
              </a:defRPr>
            </a:pPr>
            <a:r>
              <a:t>Kịch bản video ngắn bắt xu hướng (Hook 3s)</a:t>
            </a:r>
          </a:p>
        </p:txBody>
      </p:sp>
      <p:sp>
        <p:nvSpPr>
          <p:cNvPr id="33" name="TextBox 32"/>
          <p:cNvSpPr txBox="1"/>
          <p:nvPr/>
        </p:nvSpPr>
        <p:spPr>
          <a:xfrm>
            <a:off x="9893808" y="2834640"/>
            <a:ext cx="1673352" cy="320040"/>
          </a:xfrm>
          <a:prstGeom prst="rect">
            <a:avLst/>
          </a:prstGeom>
          <a:noFill/>
        </p:spPr>
        <p:txBody>
          <a:bodyPr wrap="square" lIns="0" rIns="0" tIns="0" bIns="0">
            <a:spAutoFit/>
          </a:bodyPr>
          <a:lstStyle/>
          <a:p>
            <a:pPr algn="r">
              <a:defRPr sz="1000" b="1" i="0">
                <a:solidFill>
                  <a:srgbClr val="1E6B52"/>
                </a:solidFill>
                <a:latin typeface="Consolas"/>
              </a:defRPr>
            </a:pPr>
            <a:r>
              <a:t>Views · Clicks · CVR</a:t>
            </a:r>
          </a:p>
        </p:txBody>
      </p:sp>
      <p:sp>
        <p:nvSpPr>
          <p:cNvPr id="34" name="Rectangle 33"/>
          <p:cNvSpPr/>
          <p:nvPr/>
        </p:nvSpPr>
        <p:spPr>
          <a:xfrm>
            <a:off x="5230368" y="3273552"/>
            <a:ext cx="633679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30368" y="3419856"/>
            <a:ext cx="384048" cy="320040"/>
          </a:xfrm>
          <a:prstGeom prst="rect">
            <a:avLst/>
          </a:prstGeom>
          <a:noFill/>
        </p:spPr>
        <p:txBody>
          <a:bodyPr wrap="square" lIns="0" rIns="0" tIns="0" bIns="0">
            <a:spAutoFit/>
          </a:bodyPr>
          <a:lstStyle/>
          <a:p>
            <a:pPr algn="l">
              <a:defRPr sz="1300" b="1" i="0">
                <a:solidFill>
                  <a:srgbClr val="C85A32"/>
                </a:solidFill>
                <a:latin typeface="Georgia"/>
              </a:defRPr>
            </a:pPr>
            <a:r>
              <a:t>04</a:t>
            </a:r>
          </a:p>
        </p:txBody>
      </p:sp>
      <p:sp>
        <p:nvSpPr>
          <p:cNvPr id="36" name="TextBox 35"/>
          <p:cNvSpPr txBox="1"/>
          <p:nvPr/>
        </p:nvSpPr>
        <p:spPr>
          <a:xfrm>
            <a:off x="5650992" y="3419856"/>
            <a:ext cx="1234440" cy="320040"/>
          </a:xfrm>
          <a:prstGeom prst="rect">
            <a:avLst/>
          </a:prstGeom>
          <a:noFill/>
        </p:spPr>
        <p:txBody>
          <a:bodyPr wrap="square" lIns="0" rIns="0" tIns="0" bIns="0">
            <a:spAutoFit/>
          </a:bodyPr>
          <a:lstStyle/>
          <a:p>
            <a:pPr algn="l">
              <a:defRPr sz="1300" b="1" i="0">
                <a:solidFill>
                  <a:srgbClr val="231F1E"/>
                </a:solidFill>
                <a:latin typeface="Segoe UI"/>
              </a:defRPr>
            </a:pPr>
            <a:r>
              <a:t>YouTube</a:t>
            </a:r>
          </a:p>
        </p:txBody>
      </p:sp>
      <p:sp>
        <p:nvSpPr>
          <p:cNvPr id="37" name="TextBox 36"/>
          <p:cNvSpPr txBox="1"/>
          <p:nvPr/>
        </p:nvSpPr>
        <p:spPr>
          <a:xfrm>
            <a:off x="6903720" y="3419856"/>
            <a:ext cx="2971800" cy="320040"/>
          </a:xfrm>
          <a:prstGeom prst="rect">
            <a:avLst/>
          </a:prstGeom>
          <a:noFill/>
        </p:spPr>
        <p:txBody>
          <a:bodyPr wrap="square" lIns="0" rIns="0" tIns="0" bIns="0">
            <a:spAutoFit/>
          </a:bodyPr>
          <a:lstStyle/>
          <a:p>
            <a:pPr algn="l">
              <a:defRPr sz="1150" b="0" i="0">
                <a:solidFill>
                  <a:srgbClr val="4A443F"/>
                </a:solidFill>
                <a:latin typeface="Segoe UI"/>
              </a:defRPr>
            </a:pPr>
            <a:r>
              <a:t>Kịch bản video dài giới thiệu &amp; YouTube Shorts</a:t>
            </a:r>
          </a:p>
        </p:txBody>
      </p:sp>
      <p:sp>
        <p:nvSpPr>
          <p:cNvPr id="38" name="TextBox 37"/>
          <p:cNvSpPr txBox="1"/>
          <p:nvPr/>
        </p:nvSpPr>
        <p:spPr>
          <a:xfrm>
            <a:off x="9893808" y="3419856"/>
            <a:ext cx="1673352" cy="320040"/>
          </a:xfrm>
          <a:prstGeom prst="rect">
            <a:avLst/>
          </a:prstGeom>
          <a:noFill/>
        </p:spPr>
        <p:txBody>
          <a:bodyPr wrap="square" lIns="0" rIns="0" tIns="0" bIns="0">
            <a:spAutoFit/>
          </a:bodyPr>
          <a:lstStyle/>
          <a:p>
            <a:pPr algn="r">
              <a:defRPr sz="1000" b="1" i="0">
                <a:solidFill>
                  <a:srgbClr val="1E6B52"/>
                </a:solidFill>
                <a:latin typeface="Consolas"/>
              </a:defRPr>
            </a:pPr>
            <a:r>
              <a:t>Views · Watch · Conv</a:t>
            </a:r>
          </a:p>
        </p:txBody>
      </p:sp>
      <p:sp>
        <p:nvSpPr>
          <p:cNvPr id="39" name="Rectangle 38"/>
          <p:cNvSpPr/>
          <p:nvPr/>
        </p:nvSpPr>
        <p:spPr>
          <a:xfrm>
            <a:off x="5230368" y="3858768"/>
            <a:ext cx="633679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30368" y="4005072"/>
            <a:ext cx="384048" cy="320040"/>
          </a:xfrm>
          <a:prstGeom prst="rect">
            <a:avLst/>
          </a:prstGeom>
          <a:noFill/>
        </p:spPr>
        <p:txBody>
          <a:bodyPr wrap="square" lIns="0" rIns="0" tIns="0" bIns="0">
            <a:spAutoFit/>
          </a:bodyPr>
          <a:lstStyle/>
          <a:p>
            <a:pPr algn="l">
              <a:defRPr sz="1300" b="1" i="0">
                <a:solidFill>
                  <a:srgbClr val="C85A32"/>
                </a:solidFill>
                <a:latin typeface="Georgia"/>
              </a:defRPr>
            </a:pPr>
            <a:r>
              <a:t>05</a:t>
            </a:r>
          </a:p>
        </p:txBody>
      </p:sp>
      <p:sp>
        <p:nvSpPr>
          <p:cNvPr id="41" name="TextBox 40"/>
          <p:cNvSpPr txBox="1"/>
          <p:nvPr/>
        </p:nvSpPr>
        <p:spPr>
          <a:xfrm>
            <a:off x="5650992" y="4005072"/>
            <a:ext cx="1234440" cy="320040"/>
          </a:xfrm>
          <a:prstGeom prst="rect">
            <a:avLst/>
          </a:prstGeom>
          <a:noFill/>
        </p:spPr>
        <p:txBody>
          <a:bodyPr wrap="square" lIns="0" rIns="0" tIns="0" bIns="0">
            <a:spAutoFit/>
          </a:bodyPr>
          <a:lstStyle/>
          <a:p>
            <a:pPr algn="l">
              <a:defRPr sz="1300" b="1" i="0">
                <a:solidFill>
                  <a:srgbClr val="231F1E"/>
                </a:solidFill>
                <a:latin typeface="Segoe UI"/>
              </a:defRPr>
            </a:pPr>
            <a:r>
              <a:t>Google Ads</a:t>
            </a:r>
          </a:p>
        </p:txBody>
      </p:sp>
      <p:sp>
        <p:nvSpPr>
          <p:cNvPr id="42" name="TextBox 41"/>
          <p:cNvSpPr txBox="1"/>
          <p:nvPr/>
        </p:nvSpPr>
        <p:spPr>
          <a:xfrm>
            <a:off x="6903720" y="4005072"/>
            <a:ext cx="2971800" cy="320040"/>
          </a:xfrm>
          <a:prstGeom prst="rect">
            <a:avLst/>
          </a:prstGeom>
          <a:noFill/>
        </p:spPr>
        <p:txBody>
          <a:bodyPr wrap="square" lIns="0" rIns="0" tIns="0" bIns="0">
            <a:spAutoFit/>
          </a:bodyPr>
          <a:lstStyle/>
          <a:p>
            <a:pPr algn="l">
              <a:defRPr sz="1150" b="0" i="0">
                <a:solidFill>
                  <a:srgbClr val="4A443F"/>
                </a:solidFill>
                <a:latin typeface="Segoe UI"/>
              </a:defRPr>
            </a:pPr>
            <a:r>
              <a:t>Thông điệp quảng cáo tìm kiếm (Search Ads)</a:t>
            </a:r>
          </a:p>
        </p:txBody>
      </p:sp>
      <p:sp>
        <p:nvSpPr>
          <p:cNvPr id="43" name="TextBox 42"/>
          <p:cNvSpPr txBox="1"/>
          <p:nvPr/>
        </p:nvSpPr>
        <p:spPr>
          <a:xfrm>
            <a:off x="9893808" y="4005072"/>
            <a:ext cx="1673352" cy="320040"/>
          </a:xfrm>
          <a:prstGeom prst="rect">
            <a:avLst/>
          </a:prstGeom>
          <a:noFill/>
        </p:spPr>
        <p:txBody>
          <a:bodyPr wrap="square" lIns="0" rIns="0" tIns="0" bIns="0">
            <a:spAutoFit/>
          </a:bodyPr>
          <a:lstStyle/>
          <a:p>
            <a:pPr algn="r">
              <a:defRPr sz="1000" b="1" i="0">
                <a:solidFill>
                  <a:srgbClr val="1E6B52"/>
                </a:solidFill>
                <a:latin typeface="Consolas"/>
              </a:defRPr>
            </a:pPr>
            <a:r>
              <a:t>Clicks · CPC · CVR · CPA</a:t>
            </a:r>
          </a:p>
        </p:txBody>
      </p:sp>
      <p:sp>
        <p:nvSpPr>
          <p:cNvPr id="44" name="Rectangle 43"/>
          <p:cNvSpPr/>
          <p:nvPr/>
        </p:nvSpPr>
        <p:spPr>
          <a:xfrm>
            <a:off x="5230368" y="4443983"/>
            <a:ext cx="633679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30368" y="4590288"/>
            <a:ext cx="384048" cy="320040"/>
          </a:xfrm>
          <a:prstGeom prst="rect">
            <a:avLst/>
          </a:prstGeom>
          <a:noFill/>
        </p:spPr>
        <p:txBody>
          <a:bodyPr wrap="square" lIns="0" rIns="0" tIns="0" bIns="0">
            <a:spAutoFit/>
          </a:bodyPr>
          <a:lstStyle/>
          <a:p>
            <a:pPr algn="l">
              <a:defRPr sz="1300" b="1" i="0">
                <a:solidFill>
                  <a:srgbClr val="C85A32"/>
                </a:solidFill>
                <a:latin typeface="Georgia"/>
              </a:defRPr>
            </a:pPr>
            <a:r>
              <a:t>06</a:t>
            </a:r>
          </a:p>
        </p:txBody>
      </p:sp>
      <p:sp>
        <p:nvSpPr>
          <p:cNvPr id="46" name="TextBox 45"/>
          <p:cNvSpPr txBox="1"/>
          <p:nvPr/>
        </p:nvSpPr>
        <p:spPr>
          <a:xfrm>
            <a:off x="5650992" y="4590288"/>
            <a:ext cx="1234440" cy="320040"/>
          </a:xfrm>
          <a:prstGeom prst="rect">
            <a:avLst/>
          </a:prstGeom>
          <a:noFill/>
        </p:spPr>
        <p:txBody>
          <a:bodyPr wrap="square" lIns="0" rIns="0" tIns="0" bIns="0">
            <a:spAutoFit/>
          </a:bodyPr>
          <a:lstStyle/>
          <a:p>
            <a:pPr algn="l">
              <a:defRPr sz="1300" b="1" i="0">
                <a:solidFill>
                  <a:srgbClr val="231F1E"/>
                </a:solidFill>
                <a:latin typeface="Segoe UI"/>
              </a:defRPr>
            </a:pPr>
            <a:r>
              <a:t>Website</a:t>
            </a:r>
          </a:p>
        </p:txBody>
      </p:sp>
      <p:sp>
        <p:nvSpPr>
          <p:cNvPr id="47" name="TextBox 46"/>
          <p:cNvSpPr txBox="1"/>
          <p:nvPr/>
        </p:nvSpPr>
        <p:spPr>
          <a:xfrm>
            <a:off x="6903720" y="4590288"/>
            <a:ext cx="2971800" cy="320040"/>
          </a:xfrm>
          <a:prstGeom prst="rect">
            <a:avLst/>
          </a:prstGeom>
          <a:noFill/>
        </p:spPr>
        <p:txBody>
          <a:bodyPr wrap="square" lIns="0" rIns="0" tIns="0" bIns="0">
            <a:spAutoFit/>
          </a:bodyPr>
          <a:lstStyle/>
          <a:p>
            <a:pPr algn="l">
              <a:defRPr sz="1150" b="0" i="0">
                <a:solidFill>
                  <a:srgbClr val="4A443F"/>
                </a:solidFill>
                <a:latin typeface="Segoe UI"/>
              </a:defRPr>
            </a:pPr>
            <a:r>
              <a:t>Bài viết chuẩn SEO &amp; nội dung trang đích</a:t>
            </a:r>
          </a:p>
        </p:txBody>
      </p:sp>
      <p:sp>
        <p:nvSpPr>
          <p:cNvPr id="48" name="TextBox 47"/>
          <p:cNvSpPr txBox="1"/>
          <p:nvPr/>
        </p:nvSpPr>
        <p:spPr>
          <a:xfrm>
            <a:off x="9893808" y="4590288"/>
            <a:ext cx="1673352" cy="320040"/>
          </a:xfrm>
          <a:prstGeom prst="rect">
            <a:avLst/>
          </a:prstGeom>
          <a:noFill/>
        </p:spPr>
        <p:txBody>
          <a:bodyPr wrap="square" lIns="0" rIns="0" tIns="0" bIns="0">
            <a:spAutoFit/>
          </a:bodyPr>
          <a:lstStyle/>
          <a:p>
            <a:pPr algn="r">
              <a:defRPr sz="1000" b="1" i="0">
                <a:solidFill>
                  <a:srgbClr val="1E6B52"/>
                </a:solidFill>
                <a:latin typeface="Consolas"/>
              </a:defRPr>
            </a:pPr>
            <a:r>
              <a:t>Traffic · Conv · CPA</a:t>
            </a:r>
          </a:p>
        </p:txBody>
      </p:sp>
      <p:sp>
        <p:nvSpPr>
          <p:cNvPr id="49" name="Rectangle 48"/>
          <p:cNvSpPr/>
          <p:nvPr/>
        </p:nvSpPr>
        <p:spPr>
          <a:xfrm>
            <a:off x="5230368" y="5029200"/>
            <a:ext cx="633679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30368" y="5175503"/>
            <a:ext cx="384048" cy="320040"/>
          </a:xfrm>
          <a:prstGeom prst="rect">
            <a:avLst/>
          </a:prstGeom>
          <a:noFill/>
        </p:spPr>
        <p:txBody>
          <a:bodyPr wrap="square" lIns="0" rIns="0" tIns="0" bIns="0">
            <a:spAutoFit/>
          </a:bodyPr>
          <a:lstStyle/>
          <a:p>
            <a:pPr algn="l">
              <a:defRPr sz="1300" b="1" i="0">
                <a:solidFill>
                  <a:srgbClr val="C85A32"/>
                </a:solidFill>
                <a:latin typeface="Georgia"/>
              </a:defRPr>
            </a:pPr>
            <a:r>
              <a:t>07</a:t>
            </a:r>
          </a:p>
        </p:txBody>
      </p:sp>
      <p:sp>
        <p:nvSpPr>
          <p:cNvPr id="51" name="TextBox 50"/>
          <p:cNvSpPr txBox="1"/>
          <p:nvPr/>
        </p:nvSpPr>
        <p:spPr>
          <a:xfrm>
            <a:off x="5650992" y="5175503"/>
            <a:ext cx="1234440" cy="320040"/>
          </a:xfrm>
          <a:prstGeom prst="rect">
            <a:avLst/>
          </a:prstGeom>
          <a:noFill/>
        </p:spPr>
        <p:txBody>
          <a:bodyPr wrap="square" lIns="0" rIns="0" tIns="0" bIns="0">
            <a:spAutoFit/>
          </a:bodyPr>
          <a:lstStyle/>
          <a:p>
            <a:pPr algn="l">
              <a:defRPr sz="1300" b="1" i="0">
                <a:solidFill>
                  <a:srgbClr val="231F1E"/>
                </a:solidFill>
                <a:latin typeface="Segoe UI"/>
              </a:defRPr>
            </a:pPr>
            <a:r>
              <a:t>Email</a:t>
            </a:r>
          </a:p>
        </p:txBody>
      </p:sp>
      <p:sp>
        <p:nvSpPr>
          <p:cNvPr id="52" name="TextBox 51"/>
          <p:cNvSpPr txBox="1"/>
          <p:nvPr/>
        </p:nvSpPr>
        <p:spPr>
          <a:xfrm>
            <a:off x="6903720" y="5175503"/>
            <a:ext cx="2971800" cy="320040"/>
          </a:xfrm>
          <a:prstGeom prst="rect">
            <a:avLst/>
          </a:prstGeom>
          <a:noFill/>
        </p:spPr>
        <p:txBody>
          <a:bodyPr wrap="square" lIns="0" rIns="0" tIns="0" bIns="0">
            <a:spAutoFit/>
          </a:bodyPr>
          <a:lstStyle/>
          <a:p>
            <a:pPr algn="l">
              <a:defRPr sz="1150" b="0" i="0">
                <a:solidFill>
                  <a:srgbClr val="4A443F"/>
                </a:solidFill>
                <a:latin typeface="Segoe UI"/>
              </a:defRPr>
            </a:pPr>
            <a:r>
              <a:t>Bản tin chăm sóc khách hàng &amp; ưu đãi cá nhân</a:t>
            </a:r>
          </a:p>
        </p:txBody>
      </p:sp>
      <p:sp>
        <p:nvSpPr>
          <p:cNvPr id="53" name="TextBox 52"/>
          <p:cNvSpPr txBox="1"/>
          <p:nvPr/>
        </p:nvSpPr>
        <p:spPr>
          <a:xfrm>
            <a:off x="9893808" y="5175503"/>
            <a:ext cx="1673352" cy="320040"/>
          </a:xfrm>
          <a:prstGeom prst="rect">
            <a:avLst/>
          </a:prstGeom>
          <a:noFill/>
        </p:spPr>
        <p:txBody>
          <a:bodyPr wrap="square" lIns="0" rIns="0" tIns="0" bIns="0">
            <a:spAutoFit/>
          </a:bodyPr>
          <a:lstStyle/>
          <a:p>
            <a:pPr algn="r">
              <a:defRPr sz="1000" b="1" i="0">
                <a:solidFill>
                  <a:srgbClr val="1E6B52"/>
                </a:solidFill>
                <a:latin typeface="Consolas"/>
              </a:defRPr>
            </a:pPr>
            <a:r>
              <a:t>Open · Clicks · CVR</a:t>
            </a:r>
          </a:p>
        </p:txBody>
      </p:sp>
      <p:sp>
        <p:nvSpPr>
          <p:cNvPr id="54" name="Rectangle 53"/>
          <p:cNvSpPr/>
          <p:nvPr/>
        </p:nvSpPr>
        <p:spPr>
          <a:xfrm>
            <a:off x="5230368" y="5614415"/>
            <a:ext cx="633679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787067"/>
                </a:solidFill>
                <a:latin typeface="Georgia"/>
              </a:defRPr>
            </a:pPr>
            <a: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943600" cy="274320"/>
          </a:xfrm>
          <a:prstGeom prst="rect">
            <a:avLst/>
          </a:prstGeom>
          <a:noFill/>
        </p:spPr>
        <p:txBody>
          <a:bodyPr wrap="square" lIns="0" rIns="0" tIns="0" bIns="0">
            <a:spAutoFit/>
          </a:bodyPr>
          <a:lstStyle/>
          <a:p>
            <a:pPr algn="l">
              <a:defRPr sz="950" b="1" i="0">
                <a:solidFill>
                  <a:srgbClr val="C85A32"/>
                </a:solidFill>
                <a:latin typeface="Segoe UI"/>
              </a:defRPr>
            </a:pPr>
            <a:r>
              <a:t>02 · KIẾN TRÚC PHẦN MỀM &amp; LUỒNG NGHIỆP VỤ</a:t>
            </a:r>
          </a:p>
        </p:txBody>
      </p:sp>
      <p:sp>
        <p:nvSpPr>
          <p:cNvPr id="4" name="TextBox 3"/>
          <p:cNvSpPr txBox="1"/>
          <p:nvPr/>
        </p:nvSpPr>
        <p:spPr>
          <a:xfrm>
            <a:off x="658368" y="804672"/>
            <a:ext cx="6858000" cy="685800"/>
          </a:xfrm>
          <a:prstGeom prst="rect">
            <a:avLst/>
          </a:prstGeom>
          <a:noFill/>
        </p:spPr>
        <p:txBody>
          <a:bodyPr wrap="square" lIns="0" rIns="0" tIns="0" bIns="0">
            <a:spAutoFit/>
          </a:bodyPr>
          <a:lstStyle/>
          <a:p>
            <a:pPr algn="l">
              <a:defRPr sz="3000" b="1" i="0">
                <a:solidFill>
                  <a:srgbClr val="231F1E"/>
                </a:solidFill>
                <a:latin typeface="Georgia"/>
              </a:defRPr>
            </a:pPr>
            <a:r>
              <a:t>Kiến trúc 3 tầng cô lập tiến trình AI (No-Shell Sandbox)</a:t>
            </a:r>
          </a:p>
        </p:txBody>
      </p:sp>
      <p:sp>
        <p:nvSpPr>
          <p:cNvPr id="5" name="Rectangle 4"/>
          <p:cNvSpPr/>
          <p:nvPr/>
        </p:nvSpPr>
        <p:spPr>
          <a:xfrm>
            <a:off x="658368" y="1664208"/>
            <a:ext cx="1086307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65960"/>
            <a:ext cx="3246120" cy="3429000"/>
          </a:xfrm>
          <a:prstGeom prst="rect">
            <a:avLst/>
          </a:prstGeom>
          <a:solidFill>
            <a:srgbClr val="F2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65960"/>
            <a:ext cx="3246120" cy="54864"/>
          </a:xfrm>
          <a:prstGeom prst="rect">
            <a:avLst/>
          </a:prstGeom>
          <a:solidFill>
            <a:srgbClr val="231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176272"/>
            <a:ext cx="2743200" cy="228600"/>
          </a:xfrm>
          <a:prstGeom prst="rect">
            <a:avLst/>
          </a:prstGeom>
          <a:noFill/>
        </p:spPr>
        <p:txBody>
          <a:bodyPr wrap="square" lIns="0" rIns="0" tIns="0" bIns="0">
            <a:spAutoFit/>
          </a:bodyPr>
          <a:lstStyle/>
          <a:p>
            <a:pPr algn="l">
              <a:defRPr sz="850" b="1" i="0">
                <a:solidFill>
                  <a:srgbClr val="787067"/>
                </a:solidFill>
                <a:latin typeface="Segoe UI"/>
              </a:defRPr>
            </a:pPr>
            <a:r>
              <a:t>TẦNG GIAO DIỆN · PORT 5173</a:t>
            </a:r>
          </a:p>
        </p:txBody>
      </p:sp>
      <p:sp>
        <p:nvSpPr>
          <p:cNvPr id="9" name="TextBox 8"/>
          <p:cNvSpPr txBox="1"/>
          <p:nvPr/>
        </p:nvSpPr>
        <p:spPr>
          <a:xfrm>
            <a:off x="896112" y="2432304"/>
            <a:ext cx="2743200" cy="411480"/>
          </a:xfrm>
          <a:prstGeom prst="rect">
            <a:avLst/>
          </a:prstGeom>
          <a:noFill/>
        </p:spPr>
        <p:txBody>
          <a:bodyPr wrap="square" lIns="0" rIns="0" tIns="0" bIns="0">
            <a:spAutoFit/>
          </a:bodyPr>
          <a:lstStyle/>
          <a:p>
            <a:pPr algn="l">
              <a:defRPr sz="2000" b="1" i="0">
                <a:solidFill>
                  <a:srgbClr val="231F1E"/>
                </a:solidFill>
                <a:latin typeface="Georgia"/>
              </a:defRPr>
            </a:pPr>
            <a:r>
              <a:t>React 18 + TypeScript</a:t>
            </a:r>
          </a:p>
        </p:txBody>
      </p:sp>
      <p:sp>
        <p:nvSpPr>
          <p:cNvPr id="10" name="TextBox 9"/>
          <p:cNvSpPr txBox="1"/>
          <p:nvPr/>
        </p:nvSpPr>
        <p:spPr>
          <a:xfrm>
            <a:off x="896112" y="2971800"/>
            <a:ext cx="2743200" cy="2103120"/>
          </a:xfrm>
          <a:prstGeom prst="rect">
            <a:avLst/>
          </a:prstGeom>
          <a:noFill/>
        </p:spPr>
        <p:txBody>
          <a:bodyPr wrap="square" lIns="0" rIns="0" tIns="0" bIns="0">
            <a:spAutoFit/>
          </a:bodyPr>
          <a:lstStyle/>
          <a:p>
            <a:pPr algn="l">
              <a:defRPr sz="1100" b="0" i="0">
                <a:solidFill>
                  <a:srgbClr val="4A443F"/>
                </a:solidFill>
                <a:latin typeface="Segoe UI"/>
              </a:defRPr>
            </a:pPr>
            <a:r>
              <a:t>01. Quản trị Chiến dịch &amp; Phễu KPI</a:t>
            </a:r>
            <a:br/>
            <a:r>
              <a:t>Biểu đồ đa kênh &amp; Nhập CSV 2 bước</a:t>
            </a:r>
            <a:br/>
            <a:br/>
            <a:r>
              <a:t>02. Quản lý Nội dung &amp; Duyệt 4 mắt</a:t>
            </a:r>
            <a:br/>
            <a:r>
              <a:t>Cảnh báo từ cấm &amp; Lịch xuất bản</a:t>
            </a:r>
            <a:br/>
            <a:br/>
            <a:r>
              <a:t>03. Trợ lý AI &amp; Thẻ đề xuất</a:t>
            </a:r>
            <a:br/>
            <a:r>
              <a:t>Streaming NDJSON &amp; Xác nhận HITL</a:t>
            </a:r>
          </a:p>
        </p:txBody>
      </p:sp>
      <p:sp>
        <p:nvSpPr>
          <p:cNvPr id="11" name="Rectangle 10"/>
          <p:cNvSpPr/>
          <p:nvPr/>
        </p:nvSpPr>
        <p:spPr>
          <a:xfrm>
            <a:off x="4279392" y="1965960"/>
            <a:ext cx="3657600" cy="3429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1965960"/>
            <a:ext cx="3657600" cy="54864"/>
          </a:xfrm>
          <a:prstGeom prst="rect">
            <a:avLst/>
          </a:prstGeom>
          <a:solidFill>
            <a:srgbClr val="1E6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2176272"/>
            <a:ext cx="3200400" cy="228600"/>
          </a:xfrm>
          <a:prstGeom prst="rect">
            <a:avLst/>
          </a:prstGeom>
          <a:noFill/>
        </p:spPr>
        <p:txBody>
          <a:bodyPr wrap="square" lIns="0" rIns="0" tIns="0" bIns="0">
            <a:spAutoFit/>
          </a:bodyPr>
          <a:lstStyle/>
          <a:p>
            <a:pPr algn="l">
              <a:defRPr sz="850" b="1" i="0">
                <a:solidFill>
                  <a:srgbClr val="1E6B52"/>
                </a:solidFill>
                <a:latin typeface="Segoe UI"/>
              </a:defRPr>
            </a:pPr>
            <a:r>
              <a:t>TẦNG MÁY CHỦ NGHIỆP VỤ · PORT 8000</a:t>
            </a:r>
          </a:p>
        </p:txBody>
      </p:sp>
      <p:sp>
        <p:nvSpPr>
          <p:cNvPr id="14" name="TextBox 13"/>
          <p:cNvSpPr txBox="1"/>
          <p:nvPr/>
        </p:nvSpPr>
        <p:spPr>
          <a:xfrm>
            <a:off x="4498848" y="2432304"/>
            <a:ext cx="3200400" cy="411480"/>
          </a:xfrm>
          <a:prstGeom prst="rect">
            <a:avLst/>
          </a:prstGeom>
          <a:noFill/>
        </p:spPr>
        <p:txBody>
          <a:bodyPr wrap="square" lIns="0" rIns="0" tIns="0" bIns="0">
            <a:spAutoFit/>
          </a:bodyPr>
          <a:lstStyle/>
          <a:p>
            <a:pPr algn="l">
              <a:defRPr sz="2000" b="1" i="0">
                <a:solidFill>
                  <a:srgbClr val="231F1E"/>
                </a:solidFill>
                <a:latin typeface="Georgia"/>
              </a:defRPr>
            </a:pPr>
            <a:r>
              <a:t>FastAPI + SQLAlchemy 2.0</a:t>
            </a:r>
          </a:p>
        </p:txBody>
      </p:sp>
      <p:sp>
        <p:nvSpPr>
          <p:cNvPr id="15" name="TextBox 14"/>
          <p:cNvSpPr txBox="1"/>
          <p:nvPr/>
        </p:nvSpPr>
        <p:spPr>
          <a:xfrm>
            <a:off x="4498848" y="2971800"/>
            <a:ext cx="3200400" cy="2103120"/>
          </a:xfrm>
          <a:prstGeom prst="rect">
            <a:avLst/>
          </a:prstGeom>
          <a:noFill/>
        </p:spPr>
        <p:txBody>
          <a:bodyPr wrap="square" lIns="0" rIns="0" tIns="0" bIns="0">
            <a:spAutoFit/>
          </a:bodyPr>
          <a:lstStyle/>
          <a:p>
            <a:pPr algn="l">
              <a:defRPr sz="1100" b="0" i="0">
                <a:solidFill>
                  <a:srgbClr val="4A443F"/>
                </a:solidFill>
                <a:latin typeface="Segoe UI"/>
              </a:defRPr>
            </a:pPr>
            <a:r>
              <a:t>• Bộ máy Bất biến Nghiệp vụ &amp; Suy diễn KPI</a:t>
            </a:r>
            <a:br/>
            <a:r>
              <a:t>Kiểm tra từ cấm · Duyệt 4 mắt · Phễu KPI</a:t>
            </a:r>
            <a:br/>
            <a:br/>
            <a:r>
              <a:t>• Cổng Giao thức FastMCP (/mcp — 14 công cụ)</a:t>
            </a:r>
            <a:br/>
            <a:r>
              <a:t>10 Công cụ Chỉ Đọc (Read-Only Grounding)</a:t>
            </a:r>
            <a:br/>
            <a:r>
              <a:t>04 Công cụ Chỉ Đề Xuất (Proposal-Only HITL)</a:t>
            </a:r>
            <a:br/>
            <a:br/>
            <a:r>
              <a:t>• PostgreSQL / SQLite (10 Bảng Thực Thể)</a:t>
            </a:r>
          </a:p>
        </p:txBody>
      </p:sp>
      <p:sp>
        <p:nvSpPr>
          <p:cNvPr id="16" name="Rectangle 15"/>
          <p:cNvSpPr/>
          <p:nvPr/>
        </p:nvSpPr>
        <p:spPr>
          <a:xfrm>
            <a:off x="8302752" y="1965960"/>
            <a:ext cx="3218688" cy="3429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02752" y="1965960"/>
            <a:ext cx="3218688" cy="54864"/>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0496" y="2176272"/>
            <a:ext cx="2743200" cy="228600"/>
          </a:xfrm>
          <a:prstGeom prst="rect">
            <a:avLst/>
          </a:prstGeom>
          <a:noFill/>
        </p:spPr>
        <p:txBody>
          <a:bodyPr wrap="square" lIns="0" rIns="0" tIns="0" bIns="0">
            <a:spAutoFit/>
          </a:bodyPr>
          <a:lstStyle/>
          <a:p>
            <a:pPr algn="l">
              <a:defRPr sz="850" b="1" i="0">
                <a:solidFill>
                  <a:srgbClr val="E07A5F"/>
                </a:solidFill>
                <a:latin typeface="Segoe UI"/>
              </a:defRPr>
            </a:pPr>
            <a:r>
              <a:t>TẦNG TÁC TỬ CÔ LẬP · PORT 8100</a:t>
            </a:r>
          </a:p>
        </p:txBody>
      </p:sp>
      <p:sp>
        <p:nvSpPr>
          <p:cNvPr id="19" name="TextBox 18"/>
          <p:cNvSpPr txBox="1"/>
          <p:nvPr/>
        </p:nvSpPr>
        <p:spPr>
          <a:xfrm>
            <a:off x="8540496" y="2432304"/>
            <a:ext cx="2743200" cy="411480"/>
          </a:xfrm>
          <a:prstGeom prst="rect">
            <a:avLst/>
          </a:prstGeom>
          <a:noFill/>
        </p:spPr>
        <p:txBody>
          <a:bodyPr wrap="square" lIns="0" rIns="0" tIns="0" bIns="0">
            <a:spAutoFit/>
          </a:bodyPr>
          <a:lstStyle/>
          <a:p>
            <a:pPr algn="l">
              <a:defRPr sz="2000" b="1" i="0">
                <a:solidFill>
                  <a:srgbClr val="FBF9F5"/>
                </a:solidFill>
                <a:latin typeface="Georgia"/>
              </a:defRPr>
            </a:pPr>
            <a:r>
              <a:t>Isolated AI Runner</a:t>
            </a:r>
          </a:p>
        </p:txBody>
      </p:sp>
      <p:sp>
        <p:nvSpPr>
          <p:cNvPr id="20" name="TextBox 19"/>
          <p:cNvSpPr txBox="1"/>
          <p:nvPr/>
        </p:nvSpPr>
        <p:spPr>
          <a:xfrm>
            <a:off x="8540496" y="2971800"/>
            <a:ext cx="2743200" cy="2103120"/>
          </a:xfrm>
          <a:prstGeom prst="rect">
            <a:avLst/>
          </a:prstGeom>
          <a:noFill/>
        </p:spPr>
        <p:txBody>
          <a:bodyPr wrap="square" lIns="0" rIns="0" tIns="0" bIns="0">
            <a:spAutoFit/>
          </a:bodyPr>
          <a:lstStyle/>
          <a:p>
            <a:pPr algn="l">
              <a:defRPr sz="1100" b="0" i="0">
                <a:solidFill>
                  <a:srgbClr val="F2ECE1"/>
                </a:solidFill>
                <a:latin typeface="Segoe UI"/>
              </a:defRPr>
            </a:pPr>
            <a:r>
              <a:t>• Ràng buộc Cô lập (No-Shell Sandbox)</a:t>
            </a:r>
            <a:br/>
            <a:r>
              <a:t>bash: false · edit: false · write: false</a:t>
            </a:r>
            <a:br/>
            <a:r>
              <a:t>Không có quyền chạy lệnh hệ điều hành</a:t>
            </a:r>
            <a:br/>
            <a:br/>
            <a:r>
              <a:t>• Quy trình Suy luận Có Kiểm Chứng</a:t>
            </a:r>
            <a:br/>
            <a:r>
              <a:t>1. Đọc Hồ sơ thương hiệu &amp; KPI thực tế</a:t>
            </a:r>
            <a:br/>
            <a:r>
              <a:t>2. Tự kiểm tra từ khóa cấm</a:t>
            </a:r>
            <a:br/>
            <a:r>
              <a:t>3. Tạo Thẻ đề xuất (PROPOSED)</a:t>
            </a:r>
          </a:p>
        </p:txBody>
      </p:sp>
      <p:sp>
        <p:nvSpPr>
          <p:cNvPr id="21" name="Rectangle 20"/>
          <p:cNvSpPr/>
          <p:nvPr/>
        </p:nvSpPr>
        <p:spPr>
          <a:xfrm>
            <a:off x="658368" y="5687568"/>
            <a:ext cx="1086307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833872"/>
            <a:ext cx="10863072" cy="365760"/>
          </a:xfrm>
          <a:prstGeom prst="rect">
            <a:avLst/>
          </a:prstGeom>
          <a:noFill/>
        </p:spPr>
        <p:txBody>
          <a:bodyPr wrap="square" lIns="0" rIns="0" tIns="0" bIns="0">
            <a:spAutoFit/>
          </a:bodyPr>
          <a:lstStyle/>
          <a:p>
            <a:pPr algn="l">
              <a:defRPr sz="1100" b="1" i="0">
                <a:solidFill>
                  <a:srgbClr val="231F1E"/>
                </a:solidFill>
                <a:latin typeface="Segoe UI"/>
              </a:defRPr>
            </a:pPr>
            <a:r>
              <a:t>BẢO ĐẢM KIẾN TRÚC: Xác thực HttpOnly Session Cookie  ·  Truy xuất dữ liệu thật qua FastMCP  ·  Không tự ý ghi trực tiếp vào CSDL</a:t>
            </a:r>
          </a:p>
        </p:txBody>
      </p:sp>
      <p:sp>
        <p:nvSpPr>
          <p:cNvPr id="23" name="TextBox 22"/>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787067"/>
                </a:solidFill>
                <a:latin typeface="Georgia"/>
              </a:defRPr>
            </a:pPr>
            <a: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11880"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475488"/>
            <a:ext cx="2834640" cy="274320"/>
          </a:xfrm>
          <a:prstGeom prst="rect">
            <a:avLst/>
          </a:prstGeom>
          <a:noFill/>
        </p:spPr>
        <p:txBody>
          <a:bodyPr wrap="square" lIns="0" rIns="0" tIns="0" bIns="0">
            <a:spAutoFit/>
          </a:bodyPr>
          <a:lstStyle/>
          <a:p>
            <a:pPr algn="l">
              <a:defRPr sz="900" b="1" i="0">
                <a:solidFill>
                  <a:srgbClr val="E07A5F"/>
                </a:solidFill>
                <a:latin typeface="Segoe UI"/>
              </a:defRPr>
            </a:pPr>
            <a:r>
              <a:t>02 · PRODUCT DEMO VIDEO #01</a:t>
            </a:r>
          </a:p>
        </p:txBody>
      </p:sp>
      <p:sp>
        <p:nvSpPr>
          <p:cNvPr id="5" name="TextBox 4"/>
          <p:cNvSpPr txBox="1"/>
          <p:nvPr/>
        </p:nvSpPr>
        <p:spPr>
          <a:xfrm>
            <a:off x="438912" y="777240"/>
            <a:ext cx="2834640" cy="1051560"/>
          </a:xfrm>
          <a:prstGeom prst="rect">
            <a:avLst/>
          </a:prstGeom>
          <a:noFill/>
        </p:spPr>
        <p:txBody>
          <a:bodyPr wrap="square" lIns="0" rIns="0" tIns="0" bIns="0">
            <a:spAutoFit/>
          </a:bodyPr>
          <a:lstStyle/>
          <a:p>
            <a:pPr algn="l">
              <a:defRPr sz="2300" b="1" i="0">
                <a:solidFill>
                  <a:srgbClr val="FBF9F5"/>
                </a:solidFill>
                <a:latin typeface="Georgia"/>
              </a:defRPr>
            </a:pPr>
            <a:r>
              <a:t>Suy diễn Phễu KPI &amp; Nhập CSV 2 bước</a:t>
            </a:r>
          </a:p>
        </p:txBody>
      </p:sp>
      <p:sp>
        <p:nvSpPr>
          <p:cNvPr id="6" name="TextBox 5"/>
          <p:cNvSpPr txBox="1"/>
          <p:nvPr/>
        </p:nvSpPr>
        <p:spPr>
          <a:xfrm>
            <a:off x="438912" y="1847088"/>
            <a:ext cx="2834640" cy="777240"/>
          </a:xfrm>
          <a:prstGeom prst="rect">
            <a:avLst/>
          </a:prstGeom>
          <a:noFill/>
        </p:spPr>
        <p:txBody>
          <a:bodyPr wrap="square" lIns="0" rIns="0" tIns="0" bIns="0">
            <a:spAutoFit/>
          </a:bodyPr>
          <a:lstStyle/>
          <a:p>
            <a:pPr algn="l">
              <a:defRPr sz="1100" b="0" i="0">
                <a:solidFill>
                  <a:srgbClr val="F2ECE1"/>
                </a:solidFill>
                <a:latin typeface="Segoe UI"/>
              </a:defRPr>
            </a:pPr>
            <a:r>
              <a:t>Loại bỏ hoàn toàn sai số nhập liệu thủ công bằng cơ chế tự động tính toán chỉ số dẫn xuất và kiểm duyệt tệp trước khi lưu.</a:t>
            </a:r>
          </a:p>
        </p:txBody>
      </p:sp>
      <p:sp>
        <p:nvSpPr>
          <p:cNvPr id="7" name="Rectangle 6"/>
          <p:cNvSpPr/>
          <p:nvPr/>
        </p:nvSpPr>
        <p:spPr>
          <a:xfrm>
            <a:off x="438912" y="2697480"/>
            <a:ext cx="283464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807208"/>
            <a:ext cx="365760" cy="320040"/>
          </a:xfrm>
          <a:prstGeom prst="rect">
            <a:avLst/>
          </a:prstGeom>
          <a:noFill/>
        </p:spPr>
        <p:txBody>
          <a:bodyPr wrap="square" lIns="0" rIns="0" tIns="0" bIns="0">
            <a:spAutoFit/>
          </a:bodyPr>
          <a:lstStyle/>
          <a:p>
            <a:pPr algn="l">
              <a:defRPr sz="1400" b="1" i="0">
                <a:solidFill>
                  <a:srgbClr val="E07A5F"/>
                </a:solidFill>
                <a:latin typeface="Georgia"/>
              </a:defRPr>
            </a:pPr>
            <a:r>
              <a:t>01</a:t>
            </a:r>
          </a:p>
        </p:txBody>
      </p:sp>
      <p:sp>
        <p:nvSpPr>
          <p:cNvPr id="9" name="TextBox 8"/>
          <p:cNvSpPr txBox="1"/>
          <p:nvPr/>
        </p:nvSpPr>
        <p:spPr>
          <a:xfrm>
            <a:off x="841248" y="2807208"/>
            <a:ext cx="2432304" cy="777240"/>
          </a:xfrm>
          <a:prstGeom prst="rect">
            <a:avLst/>
          </a:prstGeom>
          <a:noFill/>
        </p:spPr>
        <p:txBody>
          <a:bodyPr wrap="square" lIns="0" rIns="0" tIns="0" bIns="0">
            <a:spAutoFit/>
          </a:bodyPr>
          <a:lstStyle/>
          <a:p>
            <a:pPr algn="l">
              <a:defRPr sz="1050" b="0" i="0">
                <a:solidFill>
                  <a:srgbClr val="F2ECE1"/>
                </a:solidFill>
                <a:latin typeface="Segoe UI"/>
              </a:defRPr>
            </a:pPr>
            <a:r>
              <a:t>Suy diễn tự động tại máy chủ: Từ 4 chỉ số gốc (Views, Clicks, Conversions, Cost), tự tính CTR, CVR, CPC, CPA.</a:t>
            </a:r>
          </a:p>
        </p:txBody>
      </p:sp>
      <p:sp>
        <p:nvSpPr>
          <p:cNvPr id="10" name="Rectangle 9"/>
          <p:cNvSpPr/>
          <p:nvPr/>
        </p:nvSpPr>
        <p:spPr>
          <a:xfrm>
            <a:off x="438912" y="3630168"/>
            <a:ext cx="283464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3739896"/>
            <a:ext cx="365760" cy="320040"/>
          </a:xfrm>
          <a:prstGeom prst="rect">
            <a:avLst/>
          </a:prstGeom>
          <a:noFill/>
        </p:spPr>
        <p:txBody>
          <a:bodyPr wrap="square" lIns="0" rIns="0" tIns="0" bIns="0">
            <a:spAutoFit/>
          </a:bodyPr>
          <a:lstStyle/>
          <a:p>
            <a:pPr algn="l">
              <a:defRPr sz="1400" b="1" i="0">
                <a:solidFill>
                  <a:srgbClr val="E07A5F"/>
                </a:solidFill>
                <a:latin typeface="Georgia"/>
              </a:defRPr>
            </a:pPr>
            <a:r>
              <a:t>02</a:t>
            </a:r>
          </a:p>
        </p:txBody>
      </p:sp>
      <p:sp>
        <p:nvSpPr>
          <p:cNvPr id="12" name="TextBox 11"/>
          <p:cNvSpPr txBox="1"/>
          <p:nvPr/>
        </p:nvSpPr>
        <p:spPr>
          <a:xfrm>
            <a:off x="841248" y="3739896"/>
            <a:ext cx="2432304" cy="777240"/>
          </a:xfrm>
          <a:prstGeom prst="rect">
            <a:avLst/>
          </a:prstGeom>
          <a:noFill/>
        </p:spPr>
        <p:txBody>
          <a:bodyPr wrap="square" lIns="0" rIns="0" tIns="0" bIns="0">
            <a:spAutoFit/>
          </a:bodyPr>
          <a:lstStyle/>
          <a:p>
            <a:pPr algn="l">
              <a:defRPr sz="1050" b="0" i="0">
                <a:solidFill>
                  <a:srgbClr val="F2ECE1"/>
                </a:solidFill>
                <a:latin typeface="Segoe UI"/>
              </a:defRPr>
            </a:pPr>
            <a:r>
              <a:t>Bất biến phễu chuyển đổi: Chặn tự động các dòng dữ liệu vô lý vi phạm điều kiện Chuyển đổi ≤ Lượt bấm ≤ Hiển thị.</a:t>
            </a:r>
          </a:p>
        </p:txBody>
      </p:sp>
      <p:sp>
        <p:nvSpPr>
          <p:cNvPr id="13" name="Rectangle 12"/>
          <p:cNvSpPr/>
          <p:nvPr/>
        </p:nvSpPr>
        <p:spPr>
          <a:xfrm>
            <a:off x="438912" y="4562856"/>
            <a:ext cx="283464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4672584"/>
            <a:ext cx="365760" cy="320040"/>
          </a:xfrm>
          <a:prstGeom prst="rect">
            <a:avLst/>
          </a:prstGeom>
          <a:noFill/>
        </p:spPr>
        <p:txBody>
          <a:bodyPr wrap="square" lIns="0" rIns="0" tIns="0" bIns="0">
            <a:spAutoFit/>
          </a:bodyPr>
          <a:lstStyle/>
          <a:p>
            <a:pPr algn="l">
              <a:defRPr sz="1400" b="1" i="0">
                <a:solidFill>
                  <a:srgbClr val="E07A5F"/>
                </a:solidFill>
                <a:latin typeface="Georgia"/>
              </a:defRPr>
            </a:pPr>
            <a:r>
              <a:t>03</a:t>
            </a:r>
          </a:p>
        </p:txBody>
      </p:sp>
      <p:sp>
        <p:nvSpPr>
          <p:cNvPr id="15" name="TextBox 14"/>
          <p:cNvSpPr txBox="1"/>
          <p:nvPr/>
        </p:nvSpPr>
        <p:spPr>
          <a:xfrm>
            <a:off x="841248" y="4672584"/>
            <a:ext cx="2432304" cy="777240"/>
          </a:xfrm>
          <a:prstGeom prst="rect">
            <a:avLst/>
          </a:prstGeom>
          <a:noFill/>
        </p:spPr>
        <p:txBody>
          <a:bodyPr wrap="square" lIns="0" rIns="0" tIns="0" bIns="0">
            <a:spAutoFit/>
          </a:bodyPr>
          <a:lstStyle/>
          <a:p>
            <a:pPr algn="l">
              <a:defRPr sz="1050" b="0" i="0">
                <a:solidFill>
                  <a:srgbClr val="F2ECE1"/>
                </a:solidFill>
                <a:latin typeface="Segoe UI"/>
              </a:defRPr>
            </a:pPr>
            <a:r>
              <a:t>Xem trước &amp; Xác nhận (Preview → Commit): Bóc tách rõ 15 dòng hợp lệ để Quản lý đối chiếu trước khi ghi CSDL.</a:t>
            </a:r>
          </a:p>
        </p:txBody>
      </p:sp>
      <p:sp>
        <p:nvSpPr>
          <p:cNvPr id="16" name="Rectangle 15"/>
          <p:cNvSpPr/>
          <p:nvPr/>
        </p:nvSpPr>
        <p:spPr>
          <a:xfrm>
            <a:off x="438912" y="5596128"/>
            <a:ext cx="283464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5724144"/>
            <a:ext cx="2834640" cy="502920"/>
          </a:xfrm>
          <a:prstGeom prst="rect">
            <a:avLst/>
          </a:prstGeom>
          <a:noFill/>
        </p:spPr>
        <p:txBody>
          <a:bodyPr wrap="square" lIns="0" rIns="0" tIns="0" bIns="0">
            <a:spAutoFit/>
          </a:bodyPr>
          <a:lstStyle/>
          <a:p>
            <a:pPr algn="l">
              <a:defRPr sz="3000" b="1" i="0">
                <a:solidFill>
                  <a:srgbClr val="E07A5F"/>
                </a:solidFill>
                <a:latin typeface="Georgia"/>
              </a:defRPr>
            </a:pPr>
            <a:r>
              <a:t>0% sai số</a:t>
            </a:r>
          </a:p>
        </p:txBody>
      </p:sp>
      <p:sp>
        <p:nvSpPr>
          <p:cNvPr id="18" name="TextBox 17"/>
          <p:cNvSpPr txBox="1"/>
          <p:nvPr/>
        </p:nvSpPr>
        <p:spPr>
          <a:xfrm>
            <a:off x="438912" y="6272784"/>
            <a:ext cx="2834640" cy="320040"/>
          </a:xfrm>
          <a:prstGeom prst="rect">
            <a:avLst/>
          </a:prstGeom>
          <a:noFill/>
        </p:spPr>
        <p:txBody>
          <a:bodyPr wrap="square" lIns="0" rIns="0" tIns="0" bIns="0">
            <a:spAutoFit/>
          </a:bodyPr>
          <a:lstStyle/>
          <a:p>
            <a:pPr algn="l">
              <a:defRPr sz="850" b="1" i="0">
                <a:solidFill>
                  <a:srgbClr val="F2ECE1"/>
                </a:solidFill>
                <a:latin typeface="Segoe UI"/>
              </a:defRPr>
            </a:pPr>
            <a:r>
              <a:t>ĐỒNG NHẤT SỐ LIỆU GIỮA DASHBOARD VÀ TRỢ LÝ AI</a:t>
            </a:r>
          </a:p>
        </p:txBody>
      </p:sp>
      <p:sp>
        <p:nvSpPr>
          <p:cNvPr id="19" name="Rectangle 18"/>
          <p:cNvSpPr/>
          <p:nvPr/>
        </p:nvSpPr>
        <p:spPr>
          <a:xfrm>
            <a:off x="4014215" y="630936"/>
            <a:ext cx="7781544" cy="4401007"/>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loop-01-dashboard-kpi.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041648" y="658368"/>
            <a:ext cx="7726679" cy="4346143"/>
          </a:xfrm>
          <a:prstGeom prst="rect">
            <a:avLst/>
          </a:prstGeom>
        </p:spPr>
      </p:pic>
      <p:sp>
        <p:nvSpPr>
          <p:cNvPr id="21" name="Rectangle 20"/>
          <p:cNvSpPr/>
          <p:nvPr/>
        </p:nvSpPr>
        <p:spPr>
          <a:xfrm>
            <a:off x="4041648" y="5257800"/>
            <a:ext cx="7726679"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41648" y="5394960"/>
            <a:ext cx="3840480" cy="320040"/>
          </a:xfrm>
          <a:prstGeom prst="rect">
            <a:avLst/>
          </a:prstGeom>
          <a:noFill/>
        </p:spPr>
        <p:txBody>
          <a:bodyPr wrap="square" lIns="0" rIns="0" tIns="0" bIns="0">
            <a:spAutoFit/>
          </a:bodyPr>
          <a:lstStyle/>
          <a:p>
            <a:pPr algn="l">
              <a:defRPr sz="900" b="1" i="0">
                <a:solidFill>
                  <a:srgbClr val="231F1E"/>
                </a:solidFill>
                <a:latin typeface="Segoe UI"/>
              </a:defRPr>
            </a:pPr>
            <a:r>
              <a:t>MINH HỌA THỰC TẾ · CHIẾN DỊCH RA MẮT DÒNG COLD BREW</a:t>
            </a:r>
          </a:p>
        </p:txBody>
      </p:sp>
      <p:sp>
        <p:nvSpPr>
          <p:cNvPr id="23" name="TextBox 22"/>
          <p:cNvSpPr txBox="1"/>
          <p:nvPr/>
        </p:nvSpPr>
        <p:spPr>
          <a:xfrm>
            <a:off x="7882128" y="5394960"/>
            <a:ext cx="3886200" cy="411480"/>
          </a:xfrm>
          <a:prstGeom prst="rect">
            <a:avLst/>
          </a:prstGeom>
          <a:noFill/>
        </p:spPr>
        <p:txBody>
          <a:bodyPr wrap="square" lIns="0" rIns="0" tIns="0" bIns="0">
            <a:spAutoFit/>
          </a:bodyPr>
          <a:lstStyle/>
          <a:p>
            <a:pPr algn="r">
              <a:defRPr sz="1050" b="0" i="0">
                <a:solidFill>
                  <a:srgbClr val="4A443F"/>
                </a:solidFill>
                <a:latin typeface="Segoe UI"/>
              </a:defRPr>
            </a:pPr>
            <a:r>
              <a:t>Bấm nhanh Nhập CSV → Giữ lâu kiểm tra 15 dòng hợp lệ → Xác nhận nhập</a:t>
            </a:r>
          </a:p>
        </p:txBody>
      </p:sp>
      <p:sp>
        <p:nvSpPr>
          <p:cNvPr id="24" name="TextBox 23"/>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787067"/>
                </a:solidFill>
                <a:latin typeface="Georgia"/>
              </a:defRPr>
            </a:pPr>
            <a:r>
              <a:t>05 / 12</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0"/>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11880" cy="6858000"/>
          </a:xfrm>
          <a:prstGeom prst="rect">
            <a:avLst/>
          </a:prstGeom>
          <a:solidFill>
            <a:srgbClr val="F2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11880" y="0"/>
            <a:ext cx="10972" cy="6858000"/>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475488"/>
            <a:ext cx="2834640" cy="274320"/>
          </a:xfrm>
          <a:prstGeom prst="rect">
            <a:avLst/>
          </a:prstGeom>
          <a:noFill/>
        </p:spPr>
        <p:txBody>
          <a:bodyPr wrap="square" lIns="0" rIns="0" tIns="0" bIns="0">
            <a:spAutoFit/>
          </a:bodyPr>
          <a:lstStyle/>
          <a:p>
            <a:pPr algn="l">
              <a:defRPr sz="900" b="1" i="0">
                <a:solidFill>
                  <a:srgbClr val="C85A32"/>
                </a:solidFill>
                <a:latin typeface="Segoe UI"/>
              </a:defRPr>
            </a:pPr>
            <a:r>
              <a:t>02 · PRODUCT DEMO VIDEO #02</a:t>
            </a:r>
          </a:p>
        </p:txBody>
      </p:sp>
      <p:sp>
        <p:nvSpPr>
          <p:cNvPr id="6" name="TextBox 5"/>
          <p:cNvSpPr txBox="1"/>
          <p:nvPr/>
        </p:nvSpPr>
        <p:spPr>
          <a:xfrm>
            <a:off x="438912" y="777240"/>
            <a:ext cx="2834640" cy="1051560"/>
          </a:xfrm>
          <a:prstGeom prst="rect">
            <a:avLst/>
          </a:prstGeom>
          <a:noFill/>
        </p:spPr>
        <p:txBody>
          <a:bodyPr wrap="square" lIns="0" rIns="0" tIns="0" bIns="0">
            <a:spAutoFit/>
          </a:bodyPr>
          <a:lstStyle/>
          <a:p>
            <a:pPr algn="l">
              <a:defRPr sz="2300" b="1" i="0">
                <a:solidFill>
                  <a:srgbClr val="231F1E"/>
                </a:solidFill>
                <a:latin typeface="Georgia"/>
              </a:defRPr>
            </a:pPr>
            <a:r>
              <a:t>Rào chắn Từ cấm &amp; Phê duyệt 4 mắt (HITL)</a:t>
            </a:r>
          </a:p>
        </p:txBody>
      </p:sp>
      <p:sp>
        <p:nvSpPr>
          <p:cNvPr id="7" name="TextBox 6"/>
          <p:cNvSpPr txBox="1"/>
          <p:nvPr/>
        </p:nvSpPr>
        <p:spPr>
          <a:xfrm>
            <a:off x="438912" y="1847088"/>
            <a:ext cx="2834640" cy="777240"/>
          </a:xfrm>
          <a:prstGeom prst="rect">
            <a:avLst/>
          </a:prstGeom>
          <a:noFill/>
        </p:spPr>
        <p:txBody>
          <a:bodyPr wrap="square" lIns="0" rIns="0" tIns="0" bIns="0">
            <a:spAutoFit/>
          </a:bodyPr>
          <a:lstStyle/>
          <a:p>
            <a:pPr algn="l">
              <a:defRPr sz="1100" b="0" i="0">
                <a:solidFill>
                  <a:srgbClr val="4A443F"/>
                </a:solidFill>
                <a:latin typeface="Segoe UI"/>
              </a:defRPr>
            </a:pPr>
            <a:r>
              <a:t>Đảm bảo mọi bài viết xuất bản đều tuân thủ quy chuẩn ngôn từ thương hiệu và có sự kiểm chứng chéo giữa hai nhân sự độc lập.</a:t>
            </a:r>
          </a:p>
        </p:txBody>
      </p:sp>
      <p:sp>
        <p:nvSpPr>
          <p:cNvPr id="8" name="Rectangle 7"/>
          <p:cNvSpPr/>
          <p:nvPr/>
        </p:nvSpPr>
        <p:spPr>
          <a:xfrm>
            <a:off x="438912" y="2697480"/>
            <a:ext cx="28346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2807208"/>
            <a:ext cx="365760" cy="320040"/>
          </a:xfrm>
          <a:prstGeom prst="rect">
            <a:avLst/>
          </a:prstGeom>
          <a:noFill/>
        </p:spPr>
        <p:txBody>
          <a:bodyPr wrap="square" lIns="0" rIns="0" tIns="0" bIns="0">
            <a:spAutoFit/>
          </a:bodyPr>
          <a:lstStyle/>
          <a:p>
            <a:pPr algn="l">
              <a:defRPr sz="1400" b="1" i="0">
                <a:solidFill>
                  <a:srgbClr val="C85A32"/>
                </a:solidFill>
                <a:latin typeface="Georgia"/>
              </a:defRPr>
            </a:pPr>
            <a:r>
              <a:t>01</a:t>
            </a:r>
          </a:p>
        </p:txBody>
      </p:sp>
      <p:sp>
        <p:nvSpPr>
          <p:cNvPr id="10" name="TextBox 9"/>
          <p:cNvSpPr txBox="1"/>
          <p:nvPr/>
        </p:nvSpPr>
        <p:spPr>
          <a:xfrm>
            <a:off x="841248" y="2807208"/>
            <a:ext cx="2432304" cy="777240"/>
          </a:xfrm>
          <a:prstGeom prst="rect">
            <a:avLst/>
          </a:prstGeom>
          <a:noFill/>
        </p:spPr>
        <p:txBody>
          <a:bodyPr wrap="square" lIns="0" rIns="0" tIns="0" bIns="0">
            <a:spAutoFit/>
          </a:bodyPr>
          <a:lstStyle/>
          <a:p>
            <a:pPr algn="l">
              <a:defRPr sz="1050" b="0" i="0">
                <a:solidFill>
                  <a:srgbClr val="4A443F"/>
                </a:solidFill>
                <a:latin typeface="Segoe UI"/>
              </a:defRPr>
            </a:pPr>
            <a:r>
              <a:t>Quét từ khóa cấm tự động: Đối chiếu tiêu đề và nội dung với danh mục từ cấm của thương hiệu ngay khi bấm Gửi duyệt.</a:t>
            </a:r>
          </a:p>
        </p:txBody>
      </p:sp>
      <p:sp>
        <p:nvSpPr>
          <p:cNvPr id="11" name="Rectangle 10"/>
          <p:cNvSpPr/>
          <p:nvPr/>
        </p:nvSpPr>
        <p:spPr>
          <a:xfrm>
            <a:off x="438912" y="3630168"/>
            <a:ext cx="28346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3739896"/>
            <a:ext cx="365760" cy="320040"/>
          </a:xfrm>
          <a:prstGeom prst="rect">
            <a:avLst/>
          </a:prstGeom>
          <a:noFill/>
        </p:spPr>
        <p:txBody>
          <a:bodyPr wrap="square" lIns="0" rIns="0" tIns="0" bIns="0">
            <a:spAutoFit/>
          </a:bodyPr>
          <a:lstStyle/>
          <a:p>
            <a:pPr algn="l">
              <a:defRPr sz="1400" b="1" i="0">
                <a:solidFill>
                  <a:srgbClr val="C85A32"/>
                </a:solidFill>
                <a:latin typeface="Georgia"/>
              </a:defRPr>
            </a:pPr>
            <a:r>
              <a:t>02</a:t>
            </a:r>
          </a:p>
        </p:txBody>
      </p:sp>
      <p:sp>
        <p:nvSpPr>
          <p:cNvPr id="13" name="TextBox 12"/>
          <p:cNvSpPr txBox="1"/>
          <p:nvPr/>
        </p:nvSpPr>
        <p:spPr>
          <a:xfrm>
            <a:off x="841248" y="3739896"/>
            <a:ext cx="2432304" cy="777240"/>
          </a:xfrm>
          <a:prstGeom prst="rect">
            <a:avLst/>
          </a:prstGeom>
          <a:noFill/>
        </p:spPr>
        <p:txBody>
          <a:bodyPr wrap="square" lIns="0" rIns="0" tIns="0" bIns="0">
            <a:spAutoFit/>
          </a:bodyPr>
          <a:lstStyle/>
          <a:p>
            <a:pPr algn="l">
              <a:defRPr sz="1050" b="0" i="0">
                <a:solidFill>
                  <a:srgbClr val="4A443F"/>
                </a:solidFill>
                <a:latin typeface="Segoe UI"/>
              </a:defRPr>
            </a:pPr>
            <a:r>
              <a:t>Nguyên tắc 4 mắt (Four-Eyes): Kiểm tra mã định danh người tạo và người duyệt; chặn tuyệt đối hành vi tự phê duyệt.</a:t>
            </a:r>
          </a:p>
        </p:txBody>
      </p:sp>
      <p:sp>
        <p:nvSpPr>
          <p:cNvPr id="14" name="Rectangle 13"/>
          <p:cNvSpPr/>
          <p:nvPr/>
        </p:nvSpPr>
        <p:spPr>
          <a:xfrm>
            <a:off x="438912" y="4562856"/>
            <a:ext cx="28346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4672584"/>
            <a:ext cx="365760" cy="320040"/>
          </a:xfrm>
          <a:prstGeom prst="rect">
            <a:avLst/>
          </a:prstGeom>
          <a:noFill/>
        </p:spPr>
        <p:txBody>
          <a:bodyPr wrap="square" lIns="0" rIns="0" tIns="0" bIns="0">
            <a:spAutoFit/>
          </a:bodyPr>
          <a:lstStyle/>
          <a:p>
            <a:pPr algn="l">
              <a:defRPr sz="1400" b="1" i="0">
                <a:solidFill>
                  <a:srgbClr val="C85A32"/>
                </a:solidFill>
                <a:latin typeface="Georgia"/>
              </a:defRPr>
            </a:pPr>
            <a:r>
              <a:t>03</a:t>
            </a:r>
          </a:p>
        </p:txBody>
      </p:sp>
      <p:sp>
        <p:nvSpPr>
          <p:cNvPr id="16" name="TextBox 15"/>
          <p:cNvSpPr txBox="1"/>
          <p:nvPr/>
        </p:nvSpPr>
        <p:spPr>
          <a:xfrm>
            <a:off x="841248" y="4672584"/>
            <a:ext cx="2432304" cy="777240"/>
          </a:xfrm>
          <a:prstGeom prst="rect">
            <a:avLst/>
          </a:prstGeom>
          <a:noFill/>
        </p:spPr>
        <p:txBody>
          <a:bodyPr wrap="square" lIns="0" rIns="0" tIns="0" bIns="0">
            <a:spAutoFit/>
          </a:bodyPr>
          <a:lstStyle/>
          <a:p>
            <a:pPr algn="l">
              <a:defRPr sz="1050" b="0" i="0">
                <a:solidFill>
                  <a:srgbClr val="4A443F"/>
                </a:solidFill>
                <a:latin typeface="Segoe UI"/>
              </a:defRPr>
            </a:pPr>
            <a:r>
              <a:t>Nhật ký kiểm toán (Audit Log): Lưu vết toàn bộ quyết định phê duyệt, ghi chú nhận xét và dấu thời gian.</a:t>
            </a:r>
          </a:p>
        </p:txBody>
      </p:sp>
      <p:sp>
        <p:nvSpPr>
          <p:cNvPr id="17" name="Rectangle 16"/>
          <p:cNvSpPr/>
          <p:nvPr/>
        </p:nvSpPr>
        <p:spPr>
          <a:xfrm>
            <a:off x="438912" y="5596128"/>
            <a:ext cx="28346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5724144"/>
            <a:ext cx="2834640" cy="502920"/>
          </a:xfrm>
          <a:prstGeom prst="rect">
            <a:avLst/>
          </a:prstGeom>
          <a:noFill/>
        </p:spPr>
        <p:txBody>
          <a:bodyPr wrap="square" lIns="0" rIns="0" tIns="0" bIns="0">
            <a:spAutoFit/>
          </a:bodyPr>
          <a:lstStyle/>
          <a:p>
            <a:pPr algn="l">
              <a:defRPr sz="3000" b="1" i="0">
                <a:solidFill>
                  <a:srgbClr val="C85A32"/>
                </a:solidFill>
                <a:latin typeface="Georgia"/>
              </a:defRPr>
            </a:pPr>
            <a:r>
              <a:t>100% lưu vết</a:t>
            </a:r>
          </a:p>
        </p:txBody>
      </p:sp>
      <p:sp>
        <p:nvSpPr>
          <p:cNvPr id="19" name="TextBox 18"/>
          <p:cNvSpPr txBox="1"/>
          <p:nvPr/>
        </p:nvSpPr>
        <p:spPr>
          <a:xfrm>
            <a:off x="438912" y="6272784"/>
            <a:ext cx="2834640" cy="320040"/>
          </a:xfrm>
          <a:prstGeom prst="rect">
            <a:avLst/>
          </a:prstGeom>
          <a:noFill/>
        </p:spPr>
        <p:txBody>
          <a:bodyPr wrap="square" lIns="0" rIns="0" tIns="0" bIns="0">
            <a:spAutoFit/>
          </a:bodyPr>
          <a:lstStyle/>
          <a:p>
            <a:pPr algn="l">
              <a:defRPr sz="850" b="1" i="0">
                <a:solidFill>
                  <a:srgbClr val="4A443F"/>
                </a:solidFill>
                <a:latin typeface="Segoe UI"/>
              </a:defRPr>
            </a:pPr>
            <a:r>
              <a:t>CHẶN TỨC THÌ NỘI DUNG VI PHẠM TRƯỚC KHI LÊN LỊCH</a:t>
            </a:r>
          </a:p>
        </p:txBody>
      </p:sp>
      <p:sp>
        <p:nvSpPr>
          <p:cNvPr id="20" name="Rectangle 19"/>
          <p:cNvSpPr/>
          <p:nvPr/>
        </p:nvSpPr>
        <p:spPr>
          <a:xfrm>
            <a:off x="4014215" y="630936"/>
            <a:ext cx="7781544" cy="4401007"/>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loop-02-hitl-approval.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041648" y="658368"/>
            <a:ext cx="7726679" cy="4346143"/>
          </a:xfrm>
          <a:prstGeom prst="rect">
            <a:avLst/>
          </a:prstGeom>
        </p:spPr>
      </p:pic>
      <p:sp>
        <p:nvSpPr>
          <p:cNvPr id="22" name="Rectangle 21"/>
          <p:cNvSpPr/>
          <p:nvPr/>
        </p:nvSpPr>
        <p:spPr>
          <a:xfrm>
            <a:off x="4041648" y="5257800"/>
            <a:ext cx="7726679"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41648" y="5394960"/>
            <a:ext cx="3840480" cy="320040"/>
          </a:xfrm>
          <a:prstGeom prst="rect">
            <a:avLst/>
          </a:prstGeom>
          <a:noFill/>
        </p:spPr>
        <p:txBody>
          <a:bodyPr wrap="square" lIns="0" rIns="0" tIns="0" bIns="0">
            <a:spAutoFit/>
          </a:bodyPr>
          <a:lstStyle/>
          <a:p>
            <a:pPr algn="l">
              <a:defRPr sz="900" b="1" i="0">
                <a:solidFill>
                  <a:srgbClr val="231F1E"/>
                </a:solidFill>
                <a:latin typeface="Segoe UI"/>
              </a:defRPr>
            </a:pPr>
            <a:r>
              <a:t>MINH HỌA THỰC TẾ · AN TOÀN THƯƠNG HIỆU AN NAM COFFEE</a:t>
            </a:r>
          </a:p>
        </p:txBody>
      </p:sp>
      <p:sp>
        <p:nvSpPr>
          <p:cNvPr id="24" name="TextBox 23"/>
          <p:cNvSpPr txBox="1"/>
          <p:nvPr/>
        </p:nvSpPr>
        <p:spPr>
          <a:xfrm>
            <a:off x="7882128" y="5394960"/>
            <a:ext cx="3886200" cy="411480"/>
          </a:xfrm>
          <a:prstGeom prst="rect">
            <a:avLst/>
          </a:prstGeom>
          <a:noFill/>
        </p:spPr>
        <p:txBody>
          <a:bodyPr wrap="square" lIns="0" rIns="0" tIns="0" bIns="0">
            <a:spAutoFit/>
          </a:bodyPr>
          <a:lstStyle/>
          <a:p>
            <a:pPr algn="r">
              <a:defRPr sz="1050" b="0" i="0">
                <a:solidFill>
                  <a:srgbClr val="4A443F"/>
                </a:solidFill>
                <a:latin typeface="Segoe UI"/>
              </a:defRPr>
            </a:pPr>
            <a:r>
              <a:t>Cảnh báo chặn từ cấm (cam kết 100%, trị dứt điểm) → Phê duyệt 4 mắt</a:t>
            </a:r>
          </a:p>
        </p:txBody>
      </p:sp>
      <p:sp>
        <p:nvSpPr>
          <p:cNvPr id="25" name="TextBox 24"/>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787067"/>
                </a:solidFill>
                <a:latin typeface="Georgia"/>
              </a:defRPr>
            </a:pPr>
            <a:r>
              <a:t>06 / 12</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1"/>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095390"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02920"/>
            <a:ext cx="4937760" cy="274320"/>
          </a:xfrm>
          <a:prstGeom prst="rect">
            <a:avLst/>
          </a:prstGeom>
          <a:noFill/>
        </p:spPr>
        <p:txBody>
          <a:bodyPr wrap="square" lIns="0" rIns="0" tIns="0" bIns="0">
            <a:spAutoFit/>
          </a:bodyPr>
          <a:lstStyle/>
          <a:p>
            <a:pPr algn="l">
              <a:defRPr sz="950" b="1" i="0">
                <a:solidFill>
                  <a:srgbClr val="1E6B52"/>
                </a:solidFill>
                <a:latin typeface="Segoe UI"/>
              </a:defRPr>
            </a:pPr>
            <a:r>
              <a:t>03 · NHÓM CHỈ ĐỌC (READ-ONLY GROUNDING)</a:t>
            </a:r>
          </a:p>
        </p:txBody>
      </p:sp>
      <p:sp>
        <p:nvSpPr>
          <p:cNvPr id="5" name="TextBox 4"/>
          <p:cNvSpPr txBox="1"/>
          <p:nvPr/>
        </p:nvSpPr>
        <p:spPr>
          <a:xfrm>
            <a:off x="621792" y="841248"/>
            <a:ext cx="1097280" cy="822960"/>
          </a:xfrm>
          <a:prstGeom prst="rect">
            <a:avLst/>
          </a:prstGeom>
          <a:noFill/>
        </p:spPr>
        <p:txBody>
          <a:bodyPr wrap="square" lIns="0" rIns="0" tIns="0" bIns="0">
            <a:spAutoFit/>
          </a:bodyPr>
          <a:lstStyle/>
          <a:p>
            <a:pPr algn="l">
              <a:defRPr sz="4800" b="1" i="0">
                <a:solidFill>
                  <a:srgbClr val="1E6B52"/>
                </a:solidFill>
                <a:latin typeface="Georgia"/>
              </a:defRPr>
            </a:pPr>
            <a:r>
              <a:t>10</a:t>
            </a:r>
          </a:p>
        </p:txBody>
      </p:sp>
      <p:sp>
        <p:nvSpPr>
          <p:cNvPr id="6" name="TextBox 5"/>
          <p:cNvSpPr txBox="1"/>
          <p:nvPr/>
        </p:nvSpPr>
        <p:spPr>
          <a:xfrm>
            <a:off x="1691640" y="896112"/>
            <a:ext cx="3840480" cy="822960"/>
          </a:xfrm>
          <a:prstGeom prst="rect">
            <a:avLst/>
          </a:prstGeom>
          <a:noFill/>
        </p:spPr>
        <p:txBody>
          <a:bodyPr wrap="square" lIns="0" rIns="0" tIns="0" bIns="0">
            <a:spAutoFit/>
          </a:bodyPr>
          <a:lstStyle/>
          <a:p>
            <a:pPr algn="l">
              <a:defRPr sz="2200" b="1" i="0">
                <a:solidFill>
                  <a:srgbClr val="231F1E"/>
                </a:solidFill>
                <a:latin typeface="Georgia"/>
              </a:defRPr>
            </a:pPr>
            <a:r>
              <a:t>Công cụ Truy xuất Thực tế</a:t>
            </a:r>
            <a:br/>
            <a:r>
              <a:t>Chống Ảo giác Số liệu</a:t>
            </a:r>
          </a:p>
        </p:txBody>
      </p:sp>
      <p:sp>
        <p:nvSpPr>
          <p:cNvPr id="7" name="TextBox 6"/>
          <p:cNvSpPr txBox="1"/>
          <p:nvPr/>
        </p:nvSpPr>
        <p:spPr>
          <a:xfrm>
            <a:off x="621792" y="1874519"/>
            <a:ext cx="4846320" cy="594360"/>
          </a:xfrm>
          <a:prstGeom prst="rect">
            <a:avLst/>
          </a:prstGeom>
          <a:noFill/>
        </p:spPr>
        <p:txBody>
          <a:bodyPr wrap="square" lIns="0" rIns="0" tIns="0" bIns="0">
            <a:spAutoFit/>
          </a:bodyPr>
          <a:lstStyle/>
          <a:p>
            <a:pPr algn="l">
              <a:defRPr sz="1150" b="0" i="0">
                <a:solidFill>
                  <a:srgbClr val="4A443F"/>
                </a:solidFill>
                <a:latin typeface="Segoe UI"/>
              </a:defRPr>
            </a:pPr>
            <a:r>
              <a:t>Cung cấp ngữ cảnh chính xác từ CSDL để AI phân tích đúng ngân sách, tỷ lệ chuyển đổi và quy chuẩn thương hiệu.</a:t>
            </a:r>
          </a:p>
        </p:txBody>
      </p:sp>
      <p:sp>
        <p:nvSpPr>
          <p:cNvPr id="8" name="TextBox 7"/>
          <p:cNvSpPr txBox="1"/>
          <p:nvPr/>
        </p:nvSpPr>
        <p:spPr>
          <a:xfrm>
            <a:off x="621792" y="2697480"/>
            <a:ext cx="3017520" cy="320040"/>
          </a:xfrm>
          <a:prstGeom prst="rect">
            <a:avLst/>
          </a:prstGeom>
          <a:noFill/>
        </p:spPr>
        <p:txBody>
          <a:bodyPr wrap="square" lIns="0" rIns="0" tIns="0" bIns="0">
            <a:spAutoFit/>
          </a:bodyPr>
          <a:lstStyle/>
          <a:p>
            <a:pPr algn="l">
              <a:defRPr sz="1000" b="1" i="0">
                <a:solidFill>
                  <a:srgbClr val="1E6B52"/>
                </a:solidFill>
                <a:latin typeface="Consolas"/>
              </a:defRPr>
            </a:pPr>
            <a:r>
              <a:t>get_brand_profile · check_banned_keywords</a:t>
            </a:r>
          </a:p>
        </p:txBody>
      </p:sp>
      <p:sp>
        <p:nvSpPr>
          <p:cNvPr id="9" name="TextBox 8"/>
          <p:cNvSpPr txBox="1"/>
          <p:nvPr/>
        </p:nvSpPr>
        <p:spPr>
          <a:xfrm>
            <a:off x="3639312" y="2697480"/>
            <a:ext cx="1828800" cy="320040"/>
          </a:xfrm>
          <a:prstGeom prst="rect">
            <a:avLst/>
          </a:prstGeom>
          <a:noFill/>
        </p:spPr>
        <p:txBody>
          <a:bodyPr wrap="square" lIns="0" rIns="0" tIns="0" bIns="0">
            <a:spAutoFit/>
          </a:bodyPr>
          <a:lstStyle/>
          <a:p>
            <a:pPr algn="r">
              <a:defRPr sz="1050" b="0" i="0">
                <a:solidFill>
                  <a:srgbClr val="4A443F"/>
                </a:solidFill>
                <a:latin typeface="Segoe UI"/>
              </a:defRPr>
            </a:pPr>
            <a:r>
              <a:t>Đọc giọng văn &amp; quét từ cấm</a:t>
            </a:r>
          </a:p>
        </p:txBody>
      </p:sp>
      <p:sp>
        <p:nvSpPr>
          <p:cNvPr id="10" name="Rectangle 9"/>
          <p:cNvSpPr/>
          <p:nvPr/>
        </p:nvSpPr>
        <p:spPr>
          <a:xfrm>
            <a:off x="621792" y="3108960"/>
            <a:ext cx="484632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264408"/>
            <a:ext cx="3017520" cy="320040"/>
          </a:xfrm>
          <a:prstGeom prst="rect">
            <a:avLst/>
          </a:prstGeom>
          <a:noFill/>
        </p:spPr>
        <p:txBody>
          <a:bodyPr wrap="square" lIns="0" rIns="0" tIns="0" bIns="0">
            <a:spAutoFit/>
          </a:bodyPr>
          <a:lstStyle/>
          <a:p>
            <a:pPr algn="l">
              <a:defRPr sz="1000" b="1" i="0">
                <a:solidFill>
                  <a:srgbClr val="1E6B52"/>
                </a:solidFill>
                <a:latin typeface="Consolas"/>
              </a:defRPr>
            </a:pPr>
            <a:r>
              <a:t>list_campaigns · get_campaign</a:t>
            </a:r>
          </a:p>
        </p:txBody>
      </p:sp>
      <p:sp>
        <p:nvSpPr>
          <p:cNvPr id="12" name="TextBox 11"/>
          <p:cNvSpPr txBox="1"/>
          <p:nvPr/>
        </p:nvSpPr>
        <p:spPr>
          <a:xfrm>
            <a:off x="3639312" y="3264408"/>
            <a:ext cx="1828800" cy="320040"/>
          </a:xfrm>
          <a:prstGeom prst="rect">
            <a:avLst/>
          </a:prstGeom>
          <a:noFill/>
        </p:spPr>
        <p:txBody>
          <a:bodyPr wrap="square" lIns="0" rIns="0" tIns="0" bIns="0">
            <a:spAutoFit/>
          </a:bodyPr>
          <a:lstStyle/>
          <a:p>
            <a:pPr algn="r">
              <a:defRPr sz="1050" b="0" i="0">
                <a:solidFill>
                  <a:srgbClr val="4A443F"/>
                </a:solidFill>
                <a:latin typeface="Segoe UI"/>
              </a:defRPr>
            </a:pPr>
            <a:r>
              <a:t>Truy xuất mục tiêu &amp; ngân sách</a:t>
            </a:r>
          </a:p>
        </p:txBody>
      </p:sp>
      <p:sp>
        <p:nvSpPr>
          <p:cNvPr id="13" name="Rectangle 12"/>
          <p:cNvSpPr/>
          <p:nvPr/>
        </p:nvSpPr>
        <p:spPr>
          <a:xfrm>
            <a:off x="621792" y="3675888"/>
            <a:ext cx="484632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31336"/>
            <a:ext cx="3017520" cy="320040"/>
          </a:xfrm>
          <a:prstGeom prst="rect">
            <a:avLst/>
          </a:prstGeom>
          <a:noFill/>
        </p:spPr>
        <p:txBody>
          <a:bodyPr wrap="square" lIns="0" rIns="0" tIns="0" bIns="0">
            <a:spAutoFit/>
          </a:bodyPr>
          <a:lstStyle/>
          <a:p>
            <a:pPr algn="l">
              <a:defRPr sz="1000" b="1" i="0">
                <a:solidFill>
                  <a:srgbClr val="1E6B52"/>
                </a:solidFill>
                <a:latin typeface="Consolas"/>
              </a:defRPr>
            </a:pPr>
            <a:r>
              <a:t>get_stats · list_kpi_metrics</a:t>
            </a:r>
          </a:p>
        </p:txBody>
      </p:sp>
      <p:sp>
        <p:nvSpPr>
          <p:cNvPr id="15" name="TextBox 14"/>
          <p:cNvSpPr txBox="1"/>
          <p:nvPr/>
        </p:nvSpPr>
        <p:spPr>
          <a:xfrm>
            <a:off x="3639312" y="3831336"/>
            <a:ext cx="1828800" cy="320040"/>
          </a:xfrm>
          <a:prstGeom prst="rect">
            <a:avLst/>
          </a:prstGeom>
          <a:noFill/>
        </p:spPr>
        <p:txBody>
          <a:bodyPr wrap="square" lIns="0" rIns="0" tIns="0" bIns="0">
            <a:spAutoFit/>
          </a:bodyPr>
          <a:lstStyle/>
          <a:p>
            <a:pPr algn="r">
              <a:defRPr sz="1050" b="0" i="0">
                <a:solidFill>
                  <a:srgbClr val="4A443F"/>
                </a:solidFill>
                <a:latin typeface="Segoe UI"/>
              </a:defRPr>
            </a:pPr>
            <a:r>
              <a:t>Đọc phễu KPI thực tế (CTR, CVR, CPA)</a:t>
            </a:r>
          </a:p>
        </p:txBody>
      </p:sp>
      <p:sp>
        <p:nvSpPr>
          <p:cNvPr id="16" name="Rectangle 15"/>
          <p:cNvSpPr/>
          <p:nvPr/>
        </p:nvSpPr>
        <p:spPr>
          <a:xfrm>
            <a:off x="621792" y="4242816"/>
            <a:ext cx="484632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4398264"/>
            <a:ext cx="3017520" cy="320040"/>
          </a:xfrm>
          <a:prstGeom prst="rect">
            <a:avLst/>
          </a:prstGeom>
          <a:noFill/>
        </p:spPr>
        <p:txBody>
          <a:bodyPr wrap="square" lIns="0" rIns="0" tIns="0" bIns="0">
            <a:spAutoFit/>
          </a:bodyPr>
          <a:lstStyle/>
          <a:p>
            <a:pPr algn="l">
              <a:defRPr sz="1000" b="1" i="0">
                <a:solidFill>
                  <a:srgbClr val="1E6B52"/>
                </a:solidFill>
                <a:latin typeface="Consolas"/>
              </a:defRPr>
            </a:pPr>
            <a:r>
              <a:t>list_contents · get_content</a:t>
            </a:r>
          </a:p>
        </p:txBody>
      </p:sp>
      <p:sp>
        <p:nvSpPr>
          <p:cNvPr id="18" name="TextBox 17"/>
          <p:cNvSpPr txBox="1"/>
          <p:nvPr/>
        </p:nvSpPr>
        <p:spPr>
          <a:xfrm>
            <a:off x="3639312" y="4398264"/>
            <a:ext cx="1828800" cy="320040"/>
          </a:xfrm>
          <a:prstGeom prst="rect">
            <a:avLst/>
          </a:prstGeom>
          <a:noFill/>
        </p:spPr>
        <p:txBody>
          <a:bodyPr wrap="square" lIns="0" rIns="0" tIns="0" bIns="0">
            <a:spAutoFit/>
          </a:bodyPr>
          <a:lstStyle/>
          <a:p>
            <a:pPr algn="r">
              <a:defRPr sz="1050" b="0" i="0">
                <a:solidFill>
                  <a:srgbClr val="4A443F"/>
                </a:solidFill>
                <a:latin typeface="Segoe UI"/>
              </a:defRPr>
            </a:pPr>
            <a:r>
              <a:t>Tra cứu bài viết &amp; trạng thái duyệt</a:t>
            </a:r>
          </a:p>
        </p:txBody>
      </p:sp>
      <p:sp>
        <p:nvSpPr>
          <p:cNvPr id="19" name="Rectangle 18"/>
          <p:cNvSpPr/>
          <p:nvPr/>
        </p:nvSpPr>
        <p:spPr>
          <a:xfrm>
            <a:off x="621792" y="4809744"/>
            <a:ext cx="484632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4965192"/>
            <a:ext cx="3017520" cy="320040"/>
          </a:xfrm>
          <a:prstGeom prst="rect">
            <a:avLst/>
          </a:prstGeom>
          <a:noFill/>
        </p:spPr>
        <p:txBody>
          <a:bodyPr wrap="square" lIns="0" rIns="0" tIns="0" bIns="0">
            <a:spAutoFit/>
          </a:bodyPr>
          <a:lstStyle/>
          <a:p>
            <a:pPr algn="l">
              <a:defRPr sz="1000" b="1" i="0">
                <a:solidFill>
                  <a:srgbClr val="1E6B52"/>
                </a:solidFill>
                <a:latin typeface="Consolas"/>
              </a:defRPr>
            </a:pPr>
            <a:r>
              <a:t>list_schedules · list_audit_logs</a:t>
            </a:r>
          </a:p>
        </p:txBody>
      </p:sp>
      <p:sp>
        <p:nvSpPr>
          <p:cNvPr id="21" name="TextBox 20"/>
          <p:cNvSpPr txBox="1"/>
          <p:nvPr/>
        </p:nvSpPr>
        <p:spPr>
          <a:xfrm>
            <a:off x="3639312" y="4965192"/>
            <a:ext cx="1828800" cy="320040"/>
          </a:xfrm>
          <a:prstGeom prst="rect">
            <a:avLst/>
          </a:prstGeom>
          <a:noFill/>
        </p:spPr>
        <p:txBody>
          <a:bodyPr wrap="square" lIns="0" rIns="0" tIns="0" bIns="0">
            <a:spAutoFit/>
          </a:bodyPr>
          <a:lstStyle/>
          <a:p>
            <a:pPr algn="r">
              <a:defRPr sz="1050" b="0" i="0">
                <a:solidFill>
                  <a:srgbClr val="4A443F"/>
                </a:solidFill>
                <a:latin typeface="Segoe UI"/>
              </a:defRPr>
            </a:pPr>
            <a:r>
              <a:t>Kiểm tra lịch đăng &amp; nhật ký kiểm toán</a:t>
            </a:r>
          </a:p>
        </p:txBody>
      </p:sp>
      <p:sp>
        <p:nvSpPr>
          <p:cNvPr id="22" name="Rectangle 21"/>
          <p:cNvSpPr/>
          <p:nvPr/>
        </p:nvSpPr>
        <p:spPr>
          <a:xfrm>
            <a:off x="621792" y="5376672"/>
            <a:ext cx="484632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5897880"/>
            <a:ext cx="4846320" cy="320040"/>
          </a:xfrm>
          <a:prstGeom prst="rect">
            <a:avLst/>
          </a:prstGeom>
          <a:noFill/>
        </p:spPr>
        <p:txBody>
          <a:bodyPr wrap="square" lIns="0" rIns="0" tIns="0" bIns="0">
            <a:spAutoFit/>
          </a:bodyPr>
          <a:lstStyle/>
          <a:p>
            <a:pPr algn="l">
              <a:defRPr sz="900" b="1" i="0">
                <a:solidFill>
                  <a:srgbClr val="1E6B52"/>
                </a:solidFill>
                <a:latin typeface="Segoe UI"/>
              </a:defRPr>
            </a:pPr>
            <a:r>
              <a:t>CAM KẾT: 100% SỐ LIỆU TRONG PHÂN TÍCH CỦA AI CÓ NGUỒN GỐC TỪ CSDL</a:t>
            </a:r>
          </a:p>
        </p:txBody>
      </p:sp>
      <p:sp>
        <p:nvSpPr>
          <p:cNvPr id="24" name="TextBox 23"/>
          <p:cNvSpPr txBox="1"/>
          <p:nvPr/>
        </p:nvSpPr>
        <p:spPr>
          <a:xfrm>
            <a:off x="6693408" y="502920"/>
            <a:ext cx="4937760" cy="274320"/>
          </a:xfrm>
          <a:prstGeom prst="rect">
            <a:avLst/>
          </a:prstGeom>
          <a:noFill/>
        </p:spPr>
        <p:txBody>
          <a:bodyPr wrap="square" lIns="0" rIns="0" tIns="0" bIns="0">
            <a:spAutoFit/>
          </a:bodyPr>
          <a:lstStyle/>
          <a:p>
            <a:pPr algn="l">
              <a:defRPr sz="950" b="1" i="0">
                <a:solidFill>
                  <a:srgbClr val="E07A5F"/>
                </a:solidFill>
                <a:latin typeface="Segoe UI"/>
              </a:defRPr>
            </a:pPr>
            <a:r>
              <a:t>03 · NHÓM ĐỀ XUẤT (PROPOSAL-ONLY HITL)</a:t>
            </a:r>
          </a:p>
        </p:txBody>
      </p:sp>
      <p:sp>
        <p:nvSpPr>
          <p:cNvPr id="25" name="TextBox 24"/>
          <p:cNvSpPr txBox="1"/>
          <p:nvPr/>
        </p:nvSpPr>
        <p:spPr>
          <a:xfrm>
            <a:off x="6693408" y="841248"/>
            <a:ext cx="1097280" cy="822960"/>
          </a:xfrm>
          <a:prstGeom prst="rect">
            <a:avLst/>
          </a:prstGeom>
          <a:noFill/>
        </p:spPr>
        <p:txBody>
          <a:bodyPr wrap="square" lIns="0" rIns="0" tIns="0" bIns="0">
            <a:spAutoFit/>
          </a:bodyPr>
          <a:lstStyle/>
          <a:p>
            <a:pPr algn="l">
              <a:defRPr sz="4800" b="1" i="0">
                <a:solidFill>
                  <a:srgbClr val="E07A5F"/>
                </a:solidFill>
                <a:latin typeface="Georgia"/>
              </a:defRPr>
            </a:pPr>
            <a:r>
              <a:t>04</a:t>
            </a:r>
          </a:p>
        </p:txBody>
      </p:sp>
      <p:sp>
        <p:nvSpPr>
          <p:cNvPr id="26" name="TextBox 25"/>
          <p:cNvSpPr txBox="1"/>
          <p:nvPr/>
        </p:nvSpPr>
        <p:spPr>
          <a:xfrm>
            <a:off x="7754112" y="896112"/>
            <a:ext cx="3840480" cy="822960"/>
          </a:xfrm>
          <a:prstGeom prst="rect">
            <a:avLst/>
          </a:prstGeom>
          <a:noFill/>
        </p:spPr>
        <p:txBody>
          <a:bodyPr wrap="square" lIns="0" rIns="0" tIns="0" bIns="0">
            <a:spAutoFit/>
          </a:bodyPr>
          <a:lstStyle/>
          <a:p>
            <a:pPr algn="l">
              <a:defRPr sz="2200" b="1" i="0">
                <a:solidFill>
                  <a:srgbClr val="FBF9F5"/>
                </a:solidFill>
                <a:latin typeface="Georgia"/>
              </a:defRPr>
            </a:pPr>
            <a:r>
              <a:t>Công cụ Khởi tạo Thẻ Đề xuất</a:t>
            </a:r>
            <a:br/>
            <a:r>
              <a:t>Chờ Con người Xác nhận</a:t>
            </a:r>
          </a:p>
        </p:txBody>
      </p:sp>
      <p:sp>
        <p:nvSpPr>
          <p:cNvPr id="27" name="TextBox 26"/>
          <p:cNvSpPr txBox="1"/>
          <p:nvPr/>
        </p:nvSpPr>
        <p:spPr>
          <a:xfrm>
            <a:off x="6693408" y="1874519"/>
            <a:ext cx="4846320" cy="594360"/>
          </a:xfrm>
          <a:prstGeom prst="rect">
            <a:avLst/>
          </a:prstGeom>
          <a:noFill/>
        </p:spPr>
        <p:txBody>
          <a:bodyPr wrap="square" lIns="0" rIns="0" tIns="0" bIns="0">
            <a:spAutoFit/>
          </a:bodyPr>
          <a:lstStyle/>
          <a:p>
            <a:pPr algn="l">
              <a:defRPr sz="1150" b="0" i="0">
                <a:solidFill>
                  <a:srgbClr val="F2ECE1"/>
                </a:solidFill>
                <a:latin typeface="Segoe UI"/>
              </a:defRPr>
            </a:pPr>
            <a:r>
              <a:t>AI tuyệt đối không thể tự ghi trực tiếp vào các bảng nghiệp vụ chính mà chỉ tạo bản ghi ở trạng thái PROPOSED.</a:t>
            </a:r>
          </a:p>
        </p:txBody>
      </p:sp>
      <p:sp>
        <p:nvSpPr>
          <p:cNvPr id="28" name="TextBox 27"/>
          <p:cNvSpPr txBox="1"/>
          <p:nvPr/>
        </p:nvSpPr>
        <p:spPr>
          <a:xfrm>
            <a:off x="6693408" y="2697480"/>
            <a:ext cx="2194560" cy="320040"/>
          </a:xfrm>
          <a:prstGeom prst="rect">
            <a:avLst/>
          </a:prstGeom>
          <a:noFill/>
        </p:spPr>
        <p:txBody>
          <a:bodyPr wrap="square" lIns="0" rIns="0" tIns="0" bIns="0">
            <a:spAutoFit/>
          </a:bodyPr>
          <a:lstStyle/>
          <a:p>
            <a:pPr algn="l">
              <a:defRPr sz="1000" b="1" i="0">
                <a:solidFill>
                  <a:srgbClr val="E07A5F"/>
                </a:solidFill>
                <a:latin typeface="Consolas"/>
              </a:defRPr>
            </a:pPr>
            <a:r>
              <a:t>create_content_proposal</a:t>
            </a:r>
          </a:p>
        </p:txBody>
      </p:sp>
      <p:sp>
        <p:nvSpPr>
          <p:cNvPr id="29" name="TextBox 28"/>
          <p:cNvSpPr txBox="1"/>
          <p:nvPr/>
        </p:nvSpPr>
        <p:spPr>
          <a:xfrm>
            <a:off x="8887968" y="2697480"/>
            <a:ext cx="2651760" cy="320040"/>
          </a:xfrm>
          <a:prstGeom prst="rect">
            <a:avLst/>
          </a:prstGeom>
          <a:noFill/>
        </p:spPr>
        <p:txBody>
          <a:bodyPr wrap="square" lIns="0" rIns="0" tIns="0" bIns="0">
            <a:spAutoFit/>
          </a:bodyPr>
          <a:lstStyle/>
          <a:p>
            <a:pPr algn="r">
              <a:defRPr sz="1050" b="0" i="0">
                <a:solidFill>
                  <a:srgbClr val="F2ECE1"/>
                </a:solidFill>
                <a:latin typeface="Segoe UI"/>
              </a:defRPr>
            </a:pPr>
            <a:r>
              <a:t>Đề xuất bản nháp bài viết mới gắn với chiến dịch</a:t>
            </a:r>
          </a:p>
        </p:txBody>
      </p:sp>
      <p:sp>
        <p:nvSpPr>
          <p:cNvPr id="30" name="Rectangle 29"/>
          <p:cNvSpPr/>
          <p:nvPr/>
        </p:nvSpPr>
        <p:spPr>
          <a:xfrm>
            <a:off x="6693408" y="3108960"/>
            <a:ext cx="484632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3408" y="3291840"/>
            <a:ext cx="2194560" cy="320040"/>
          </a:xfrm>
          <a:prstGeom prst="rect">
            <a:avLst/>
          </a:prstGeom>
          <a:noFill/>
        </p:spPr>
        <p:txBody>
          <a:bodyPr wrap="square" lIns="0" rIns="0" tIns="0" bIns="0">
            <a:spAutoFit/>
          </a:bodyPr>
          <a:lstStyle/>
          <a:p>
            <a:pPr algn="l">
              <a:defRPr sz="1000" b="1" i="0">
                <a:solidFill>
                  <a:srgbClr val="E07A5F"/>
                </a:solidFill>
                <a:latin typeface="Consolas"/>
              </a:defRPr>
            </a:pPr>
            <a:r>
              <a:t>update_content_proposal</a:t>
            </a:r>
          </a:p>
        </p:txBody>
      </p:sp>
      <p:sp>
        <p:nvSpPr>
          <p:cNvPr id="32" name="TextBox 31"/>
          <p:cNvSpPr txBox="1"/>
          <p:nvPr/>
        </p:nvSpPr>
        <p:spPr>
          <a:xfrm>
            <a:off x="8887968" y="3291840"/>
            <a:ext cx="2651760" cy="320040"/>
          </a:xfrm>
          <a:prstGeom prst="rect">
            <a:avLst/>
          </a:prstGeom>
          <a:noFill/>
        </p:spPr>
        <p:txBody>
          <a:bodyPr wrap="square" lIns="0" rIns="0" tIns="0" bIns="0">
            <a:spAutoFit/>
          </a:bodyPr>
          <a:lstStyle/>
          <a:p>
            <a:pPr algn="r">
              <a:defRPr sz="1050" b="0" i="0">
                <a:solidFill>
                  <a:srgbClr val="F2ECE1"/>
                </a:solidFill>
                <a:latin typeface="Segoe UI"/>
              </a:defRPr>
            </a:pPr>
            <a:r>
              <a:t>Đề xuất tinh chỉnh tiêu đề và nội dung bài viết</a:t>
            </a:r>
          </a:p>
        </p:txBody>
      </p:sp>
      <p:sp>
        <p:nvSpPr>
          <p:cNvPr id="33" name="Rectangle 32"/>
          <p:cNvSpPr/>
          <p:nvPr/>
        </p:nvSpPr>
        <p:spPr>
          <a:xfrm>
            <a:off x="6693408" y="3703320"/>
            <a:ext cx="484632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93408" y="3886200"/>
            <a:ext cx="2194560" cy="320040"/>
          </a:xfrm>
          <a:prstGeom prst="rect">
            <a:avLst/>
          </a:prstGeom>
          <a:noFill/>
        </p:spPr>
        <p:txBody>
          <a:bodyPr wrap="square" lIns="0" rIns="0" tIns="0" bIns="0">
            <a:spAutoFit/>
          </a:bodyPr>
          <a:lstStyle/>
          <a:p>
            <a:pPr algn="l">
              <a:defRPr sz="1000" b="1" i="0">
                <a:solidFill>
                  <a:srgbClr val="E07A5F"/>
                </a:solidFill>
                <a:latin typeface="Consolas"/>
              </a:defRPr>
            </a:pPr>
            <a:r>
              <a:t>create_schedule_proposal</a:t>
            </a:r>
          </a:p>
        </p:txBody>
      </p:sp>
      <p:sp>
        <p:nvSpPr>
          <p:cNvPr id="35" name="TextBox 34"/>
          <p:cNvSpPr txBox="1"/>
          <p:nvPr/>
        </p:nvSpPr>
        <p:spPr>
          <a:xfrm>
            <a:off x="8887968" y="3886200"/>
            <a:ext cx="2651760" cy="320040"/>
          </a:xfrm>
          <a:prstGeom prst="rect">
            <a:avLst/>
          </a:prstGeom>
          <a:noFill/>
        </p:spPr>
        <p:txBody>
          <a:bodyPr wrap="square" lIns="0" rIns="0" tIns="0" bIns="0">
            <a:spAutoFit/>
          </a:bodyPr>
          <a:lstStyle/>
          <a:p>
            <a:pPr algn="r">
              <a:defRPr sz="1050" b="0" i="0">
                <a:solidFill>
                  <a:srgbClr val="F2ECE1"/>
                </a:solidFill>
                <a:latin typeface="Segoe UI"/>
              </a:defRPr>
            </a:pPr>
            <a:r>
              <a:t>Đề xuất khung giờ vàng xuất bản theo từng kênh</a:t>
            </a:r>
          </a:p>
        </p:txBody>
      </p:sp>
      <p:sp>
        <p:nvSpPr>
          <p:cNvPr id="36" name="Rectangle 35"/>
          <p:cNvSpPr/>
          <p:nvPr/>
        </p:nvSpPr>
        <p:spPr>
          <a:xfrm>
            <a:off x="6693408" y="4297680"/>
            <a:ext cx="484632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4480560"/>
            <a:ext cx="2194560" cy="320040"/>
          </a:xfrm>
          <a:prstGeom prst="rect">
            <a:avLst/>
          </a:prstGeom>
          <a:noFill/>
        </p:spPr>
        <p:txBody>
          <a:bodyPr wrap="square" lIns="0" rIns="0" tIns="0" bIns="0">
            <a:spAutoFit/>
          </a:bodyPr>
          <a:lstStyle/>
          <a:p>
            <a:pPr algn="l">
              <a:defRPr sz="1000" b="1" i="0">
                <a:solidFill>
                  <a:srgbClr val="E07A5F"/>
                </a:solidFill>
                <a:latin typeface="Consolas"/>
              </a:defRPr>
            </a:pPr>
            <a:r>
              <a:t>create_campaign_proposal</a:t>
            </a:r>
          </a:p>
        </p:txBody>
      </p:sp>
      <p:sp>
        <p:nvSpPr>
          <p:cNvPr id="38" name="TextBox 37"/>
          <p:cNvSpPr txBox="1"/>
          <p:nvPr/>
        </p:nvSpPr>
        <p:spPr>
          <a:xfrm>
            <a:off x="8887968" y="4480560"/>
            <a:ext cx="2651760" cy="320040"/>
          </a:xfrm>
          <a:prstGeom prst="rect">
            <a:avLst/>
          </a:prstGeom>
          <a:noFill/>
        </p:spPr>
        <p:txBody>
          <a:bodyPr wrap="square" lIns="0" rIns="0" tIns="0" bIns="0">
            <a:spAutoFit/>
          </a:bodyPr>
          <a:lstStyle/>
          <a:p>
            <a:pPr algn="r">
              <a:defRPr sz="1050" b="0" i="0">
                <a:solidFill>
                  <a:srgbClr val="F2ECE1"/>
                </a:solidFill>
                <a:latin typeface="Segoe UI"/>
              </a:defRPr>
            </a:pPr>
            <a:r>
              <a:t>Đề xuất cấu trúc chiến dịch và phân bổ ngân sách</a:t>
            </a:r>
          </a:p>
        </p:txBody>
      </p:sp>
      <p:sp>
        <p:nvSpPr>
          <p:cNvPr id="39" name="Rectangle 38"/>
          <p:cNvSpPr/>
          <p:nvPr/>
        </p:nvSpPr>
        <p:spPr>
          <a:xfrm>
            <a:off x="6693408" y="4892040"/>
            <a:ext cx="484632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93408" y="5349240"/>
            <a:ext cx="4846320" cy="777240"/>
          </a:xfrm>
          <a:prstGeom prst="rect">
            <a:avLst/>
          </a:prstGeom>
          <a:noFill/>
        </p:spPr>
        <p:txBody>
          <a:bodyPr wrap="square" lIns="0" rIns="0" tIns="0" bIns="0">
            <a:spAutoFit/>
          </a:bodyPr>
          <a:lstStyle/>
          <a:p>
            <a:pPr algn="l">
              <a:defRPr sz="1050" b="1" i="0">
                <a:solidFill>
                  <a:srgbClr val="FBF9F5"/>
                </a:solidFill>
                <a:latin typeface="Segoe UI"/>
              </a:defRPr>
            </a:pPr>
            <a:r>
              <a:t>RANH GIỚI AN TOÀN CẤP KIẾN TRÚC:</a:t>
            </a:r>
            <a:br/>
            <a:r>
              <a:t>Không tồn tại công cụ approve_content hay delete_campaign trong tập giao thức MCP — loại bỏ 100% nguy cơ AI tự duyệt bài.</a:t>
            </a:r>
          </a:p>
        </p:txBody>
      </p:sp>
      <p:sp>
        <p:nvSpPr>
          <p:cNvPr id="41" name="TextBox 40"/>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F2ECE1"/>
                </a:solidFill>
                <a:latin typeface="Georgia"/>
              </a:defRPr>
            </a:pPr>
            <a: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11880"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475488"/>
            <a:ext cx="2834640" cy="274320"/>
          </a:xfrm>
          <a:prstGeom prst="rect">
            <a:avLst/>
          </a:prstGeom>
          <a:noFill/>
        </p:spPr>
        <p:txBody>
          <a:bodyPr wrap="square" lIns="0" rIns="0" tIns="0" bIns="0">
            <a:spAutoFit/>
          </a:bodyPr>
          <a:lstStyle/>
          <a:p>
            <a:pPr algn="l">
              <a:defRPr sz="900" b="1" i="0">
                <a:solidFill>
                  <a:srgbClr val="E07A5F"/>
                </a:solidFill>
                <a:latin typeface="Segoe UI"/>
              </a:defRPr>
            </a:pPr>
            <a:r>
              <a:t>03 · PRODUCT DEMO VIDEO #03</a:t>
            </a:r>
          </a:p>
        </p:txBody>
      </p:sp>
      <p:sp>
        <p:nvSpPr>
          <p:cNvPr id="5" name="TextBox 4"/>
          <p:cNvSpPr txBox="1"/>
          <p:nvPr/>
        </p:nvSpPr>
        <p:spPr>
          <a:xfrm>
            <a:off x="438912" y="777240"/>
            <a:ext cx="2834640" cy="1051560"/>
          </a:xfrm>
          <a:prstGeom prst="rect">
            <a:avLst/>
          </a:prstGeom>
          <a:noFill/>
        </p:spPr>
        <p:txBody>
          <a:bodyPr wrap="square" lIns="0" rIns="0" tIns="0" bIns="0">
            <a:spAutoFit/>
          </a:bodyPr>
          <a:lstStyle/>
          <a:p>
            <a:pPr algn="l">
              <a:defRPr sz="2300" b="1" i="0">
                <a:solidFill>
                  <a:srgbClr val="FBF9F5"/>
                </a:solidFill>
                <a:latin typeface="Georgia"/>
              </a:defRPr>
            </a:pPr>
            <a:r>
              <a:t>Trợ lý AI Thực thi FastMCP &amp; Thẻ Đề Xuất</a:t>
            </a:r>
          </a:p>
        </p:txBody>
      </p:sp>
      <p:sp>
        <p:nvSpPr>
          <p:cNvPr id="6" name="TextBox 5"/>
          <p:cNvSpPr txBox="1"/>
          <p:nvPr/>
        </p:nvSpPr>
        <p:spPr>
          <a:xfrm>
            <a:off x="438912" y="1847088"/>
            <a:ext cx="2834640" cy="777240"/>
          </a:xfrm>
          <a:prstGeom prst="rect">
            <a:avLst/>
          </a:prstGeom>
          <a:noFill/>
        </p:spPr>
        <p:txBody>
          <a:bodyPr wrap="square" lIns="0" rIns="0" tIns="0" bIns="0">
            <a:spAutoFit/>
          </a:bodyPr>
          <a:lstStyle/>
          <a:p>
            <a:pPr algn="l">
              <a:defRPr sz="1100" b="0" i="0">
                <a:solidFill>
                  <a:srgbClr val="F2ECE1"/>
                </a:solidFill>
                <a:latin typeface="Segoe UI"/>
              </a:defRPr>
            </a:pPr>
            <a:r>
              <a:t>Minh bạch hóa toàn bộ quá trình suy luận của AI và trao quyền kiểm duyệt cuối cùng cho người dùng ngay trên giao diện.</a:t>
            </a:r>
          </a:p>
        </p:txBody>
      </p:sp>
      <p:sp>
        <p:nvSpPr>
          <p:cNvPr id="7" name="Rectangle 6"/>
          <p:cNvSpPr/>
          <p:nvPr/>
        </p:nvSpPr>
        <p:spPr>
          <a:xfrm>
            <a:off x="438912" y="2697480"/>
            <a:ext cx="283464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807208"/>
            <a:ext cx="365760" cy="320040"/>
          </a:xfrm>
          <a:prstGeom prst="rect">
            <a:avLst/>
          </a:prstGeom>
          <a:noFill/>
        </p:spPr>
        <p:txBody>
          <a:bodyPr wrap="square" lIns="0" rIns="0" tIns="0" bIns="0">
            <a:spAutoFit/>
          </a:bodyPr>
          <a:lstStyle/>
          <a:p>
            <a:pPr algn="l">
              <a:defRPr sz="1400" b="1" i="0">
                <a:solidFill>
                  <a:srgbClr val="E07A5F"/>
                </a:solidFill>
                <a:latin typeface="Georgia"/>
              </a:defRPr>
            </a:pPr>
            <a:r>
              <a:t>01</a:t>
            </a:r>
          </a:p>
        </p:txBody>
      </p:sp>
      <p:sp>
        <p:nvSpPr>
          <p:cNvPr id="9" name="TextBox 8"/>
          <p:cNvSpPr txBox="1"/>
          <p:nvPr/>
        </p:nvSpPr>
        <p:spPr>
          <a:xfrm>
            <a:off x="841248" y="2807208"/>
            <a:ext cx="2432304" cy="777240"/>
          </a:xfrm>
          <a:prstGeom prst="rect">
            <a:avLst/>
          </a:prstGeom>
          <a:noFill/>
        </p:spPr>
        <p:txBody>
          <a:bodyPr wrap="square" lIns="0" rIns="0" tIns="0" bIns="0">
            <a:spAutoFit/>
          </a:bodyPr>
          <a:lstStyle/>
          <a:p>
            <a:pPr algn="l">
              <a:defRPr sz="1050" b="0" i="0">
                <a:solidFill>
                  <a:srgbClr val="F2ECE1"/>
                </a:solidFill>
                <a:latin typeface="Segoe UI"/>
              </a:defRPr>
            </a:pPr>
            <a:r>
              <a:t>Truy xuất đa công cụ thời gian thực: Tự động gọi 4 công cụ FastMCP để đọc Hồ sơ thương hiệu, KPI chiến dịch và kiểm tra từ cấm.</a:t>
            </a:r>
          </a:p>
        </p:txBody>
      </p:sp>
      <p:sp>
        <p:nvSpPr>
          <p:cNvPr id="10" name="Rectangle 9"/>
          <p:cNvSpPr/>
          <p:nvPr/>
        </p:nvSpPr>
        <p:spPr>
          <a:xfrm>
            <a:off x="438912" y="3630168"/>
            <a:ext cx="283464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3739896"/>
            <a:ext cx="365760" cy="320040"/>
          </a:xfrm>
          <a:prstGeom prst="rect">
            <a:avLst/>
          </a:prstGeom>
          <a:noFill/>
        </p:spPr>
        <p:txBody>
          <a:bodyPr wrap="square" lIns="0" rIns="0" tIns="0" bIns="0">
            <a:spAutoFit/>
          </a:bodyPr>
          <a:lstStyle/>
          <a:p>
            <a:pPr algn="l">
              <a:defRPr sz="1400" b="1" i="0">
                <a:solidFill>
                  <a:srgbClr val="E07A5F"/>
                </a:solidFill>
                <a:latin typeface="Georgia"/>
              </a:defRPr>
            </a:pPr>
            <a:r>
              <a:t>02</a:t>
            </a:r>
          </a:p>
        </p:txBody>
      </p:sp>
      <p:sp>
        <p:nvSpPr>
          <p:cNvPr id="12" name="TextBox 11"/>
          <p:cNvSpPr txBox="1"/>
          <p:nvPr/>
        </p:nvSpPr>
        <p:spPr>
          <a:xfrm>
            <a:off x="841248" y="3739896"/>
            <a:ext cx="2432304" cy="777240"/>
          </a:xfrm>
          <a:prstGeom prst="rect">
            <a:avLst/>
          </a:prstGeom>
          <a:noFill/>
        </p:spPr>
        <p:txBody>
          <a:bodyPr wrap="square" lIns="0" rIns="0" tIns="0" bIns="0">
            <a:spAutoFit/>
          </a:bodyPr>
          <a:lstStyle/>
          <a:p>
            <a:pPr algn="l">
              <a:defRPr sz="1050" b="0" i="0">
                <a:solidFill>
                  <a:srgbClr val="F2ECE1"/>
                </a:solidFill>
                <a:latin typeface="Segoe UI"/>
              </a:defRPr>
            </a:pPr>
            <a:r>
              <a:t>Phân tích bám sát số liệu thật: Trích dẫn chính xác 114.019 lượt hiển thị, CTR 4,54%, CVR 6,06% và tiến độ ngân sách.</a:t>
            </a:r>
          </a:p>
        </p:txBody>
      </p:sp>
      <p:sp>
        <p:nvSpPr>
          <p:cNvPr id="13" name="Rectangle 12"/>
          <p:cNvSpPr/>
          <p:nvPr/>
        </p:nvSpPr>
        <p:spPr>
          <a:xfrm>
            <a:off x="438912" y="4562856"/>
            <a:ext cx="283464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4672584"/>
            <a:ext cx="365760" cy="320040"/>
          </a:xfrm>
          <a:prstGeom prst="rect">
            <a:avLst/>
          </a:prstGeom>
          <a:noFill/>
        </p:spPr>
        <p:txBody>
          <a:bodyPr wrap="square" lIns="0" rIns="0" tIns="0" bIns="0">
            <a:spAutoFit/>
          </a:bodyPr>
          <a:lstStyle/>
          <a:p>
            <a:pPr algn="l">
              <a:defRPr sz="1400" b="1" i="0">
                <a:solidFill>
                  <a:srgbClr val="E07A5F"/>
                </a:solidFill>
                <a:latin typeface="Georgia"/>
              </a:defRPr>
            </a:pPr>
            <a:r>
              <a:t>03</a:t>
            </a:r>
          </a:p>
        </p:txBody>
      </p:sp>
      <p:sp>
        <p:nvSpPr>
          <p:cNvPr id="15" name="TextBox 14"/>
          <p:cNvSpPr txBox="1"/>
          <p:nvPr/>
        </p:nvSpPr>
        <p:spPr>
          <a:xfrm>
            <a:off x="841248" y="4672584"/>
            <a:ext cx="2432304" cy="777240"/>
          </a:xfrm>
          <a:prstGeom prst="rect">
            <a:avLst/>
          </a:prstGeom>
          <a:noFill/>
        </p:spPr>
        <p:txBody>
          <a:bodyPr wrap="square" lIns="0" rIns="0" tIns="0" bIns="0">
            <a:spAutoFit/>
          </a:bodyPr>
          <a:lstStyle/>
          <a:p>
            <a:pPr algn="l">
              <a:defRPr sz="1050" b="0" i="0">
                <a:solidFill>
                  <a:srgbClr val="F2ECE1"/>
                </a:solidFill>
                <a:latin typeface="Segoe UI"/>
              </a:defRPr>
            </a:pPr>
            <a:r>
              <a:t>Xác nhận Thẻ đề xuất (HITL): Hiển thị thẻ PROPOSED ở khung bên phải; chỉ khi bấm Xác nhận mới lưu thành bản nháp.</a:t>
            </a:r>
          </a:p>
        </p:txBody>
      </p:sp>
      <p:sp>
        <p:nvSpPr>
          <p:cNvPr id="16" name="Rectangle 15"/>
          <p:cNvSpPr/>
          <p:nvPr/>
        </p:nvSpPr>
        <p:spPr>
          <a:xfrm>
            <a:off x="438912" y="5596128"/>
            <a:ext cx="283464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5724144"/>
            <a:ext cx="2834640" cy="502920"/>
          </a:xfrm>
          <a:prstGeom prst="rect">
            <a:avLst/>
          </a:prstGeom>
          <a:noFill/>
        </p:spPr>
        <p:txBody>
          <a:bodyPr wrap="square" lIns="0" rIns="0" tIns="0" bIns="0">
            <a:spAutoFit/>
          </a:bodyPr>
          <a:lstStyle/>
          <a:p>
            <a:pPr algn="l">
              <a:defRPr sz="3000" b="1" i="0">
                <a:solidFill>
                  <a:srgbClr val="E07A5F"/>
                </a:solidFill>
                <a:latin typeface="Georgia"/>
              </a:defRPr>
            </a:pPr>
            <a:r>
              <a:t>04 FastMCP</a:t>
            </a:r>
          </a:p>
        </p:txBody>
      </p:sp>
      <p:sp>
        <p:nvSpPr>
          <p:cNvPr id="18" name="TextBox 17"/>
          <p:cNvSpPr txBox="1"/>
          <p:nvPr/>
        </p:nvSpPr>
        <p:spPr>
          <a:xfrm>
            <a:off x="438912" y="6272784"/>
            <a:ext cx="2834640" cy="320040"/>
          </a:xfrm>
          <a:prstGeom prst="rect">
            <a:avLst/>
          </a:prstGeom>
          <a:noFill/>
        </p:spPr>
        <p:txBody>
          <a:bodyPr wrap="square" lIns="0" rIns="0" tIns="0" bIns="0">
            <a:spAutoFit/>
          </a:bodyPr>
          <a:lstStyle/>
          <a:p>
            <a:pPr algn="l">
              <a:defRPr sz="850" b="1" i="0">
                <a:solidFill>
                  <a:srgbClr val="F2ECE1"/>
                </a:solidFill>
                <a:latin typeface="Segoe UI"/>
              </a:defRPr>
            </a:pPr>
            <a:r>
              <a:t>CHUỖI CÔNG CỤ THỰC THI MINH BẠCH TRONG MỘT LƯỢT HỘI THOẠI</a:t>
            </a:r>
          </a:p>
        </p:txBody>
      </p:sp>
      <p:sp>
        <p:nvSpPr>
          <p:cNvPr id="19" name="Rectangle 18"/>
          <p:cNvSpPr/>
          <p:nvPr/>
        </p:nvSpPr>
        <p:spPr>
          <a:xfrm>
            <a:off x="4014215" y="630936"/>
            <a:ext cx="7781544" cy="4401007"/>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loop-03-ai-copilot-mcp.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041648" y="658368"/>
            <a:ext cx="7726679" cy="4346143"/>
          </a:xfrm>
          <a:prstGeom prst="rect">
            <a:avLst/>
          </a:prstGeom>
        </p:spPr>
      </p:pic>
      <p:sp>
        <p:nvSpPr>
          <p:cNvPr id="21" name="Rectangle 20"/>
          <p:cNvSpPr/>
          <p:nvPr/>
        </p:nvSpPr>
        <p:spPr>
          <a:xfrm>
            <a:off x="4041648" y="5257800"/>
            <a:ext cx="7726679"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41648" y="5394960"/>
            <a:ext cx="3840480" cy="320040"/>
          </a:xfrm>
          <a:prstGeom prst="rect">
            <a:avLst/>
          </a:prstGeom>
          <a:noFill/>
        </p:spPr>
        <p:txBody>
          <a:bodyPr wrap="square" lIns="0" rIns="0" tIns="0" bIns="0">
            <a:spAutoFit/>
          </a:bodyPr>
          <a:lstStyle/>
          <a:p>
            <a:pPr algn="l">
              <a:defRPr sz="900" b="1" i="0">
                <a:solidFill>
                  <a:srgbClr val="231F1E"/>
                </a:solidFill>
                <a:latin typeface="Segoe UI"/>
              </a:defRPr>
            </a:pPr>
            <a:r>
              <a:t>MINH HỌA THỰC TẾ · TRỢ LÝ AI PHÂN TÍCH CHIẾN DỊCH #1</a:t>
            </a:r>
          </a:p>
        </p:txBody>
      </p:sp>
      <p:sp>
        <p:nvSpPr>
          <p:cNvPr id="23" name="TextBox 22"/>
          <p:cNvSpPr txBox="1"/>
          <p:nvPr/>
        </p:nvSpPr>
        <p:spPr>
          <a:xfrm>
            <a:off x="7882128" y="5394960"/>
            <a:ext cx="3886200" cy="411480"/>
          </a:xfrm>
          <a:prstGeom prst="rect">
            <a:avLst/>
          </a:prstGeom>
          <a:noFill/>
        </p:spPr>
        <p:txBody>
          <a:bodyPr wrap="square" lIns="0" rIns="0" tIns="0" bIns="0">
            <a:spAutoFit/>
          </a:bodyPr>
          <a:lstStyle/>
          <a:p>
            <a:pPr algn="r">
              <a:defRPr sz="1050" b="0" i="0">
                <a:solidFill>
                  <a:srgbClr val="4A443F"/>
                </a:solidFill>
                <a:latin typeface="Segoe UI"/>
              </a:defRPr>
            </a:pPr>
            <a:r>
              <a:t>Thực thi 4 công cụ FastMCP → Phóng to kiểm tra Thẻ Đề Xuất → Bấm Xác nhận</a:t>
            </a:r>
          </a:p>
        </p:txBody>
      </p:sp>
      <p:sp>
        <p:nvSpPr>
          <p:cNvPr id="24" name="TextBox 23"/>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787067"/>
                </a:solidFill>
                <a:latin typeface="Georgia"/>
              </a:defRPr>
            </a:pPr>
            <a:r>
              <a:t>08 / 12</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0"/>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6858000" cy="274320"/>
          </a:xfrm>
          <a:prstGeom prst="rect">
            <a:avLst/>
          </a:prstGeom>
          <a:noFill/>
        </p:spPr>
        <p:txBody>
          <a:bodyPr wrap="square" lIns="0" rIns="0" tIns="0" bIns="0">
            <a:spAutoFit/>
          </a:bodyPr>
          <a:lstStyle/>
          <a:p>
            <a:pPr algn="l">
              <a:defRPr sz="950" b="1" i="0">
                <a:solidFill>
                  <a:srgbClr val="C85A32"/>
                </a:solidFill>
                <a:latin typeface="Segoe UI"/>
              </a:defRPr>
            </a:pPr>
            <a:r>
              <a:t>03 · THỰC NGHIỆM ĐỊNH LƯỢNG (N = 140 MẪU TRÊN 7 KÊNH TIẾP THỊ)</a:t>
            </a:r>
          </a:p>
        </p:txBody>
      </p:sp>
      <p:sp>
        <p:nvSpPr>
          <p:cNvPr id="4" name="TextBox 3"/>
          <p:cNvSpPr txBox="1"/>
          <p:nvPr/>
        </p:nvSpPr>
        <p:spPr>
          <a:xfrm>
            <a:off x="658368" y="804672"/>
            <a:ext cx="7132320" cy="1097280"/>
          </a:xfrm>
          <a:prstGeom prst="rect">
            <a:avLst/>
          </a:prstGeom>
          <a:noFill/>
        </p:spPr>
        <p:txBody>
          <a:bodyPr wrap="square" lIns="0" rIns="0" tIns="0" bIns="0">
            <a:spAutoFit/>
          </a:bodyPr>
          <a:lstStyle/>
          <a:p>
            <a:pPr algn="l">
              <a:defRPr sz="3200" b="1" i="0">
                <a:solidFill>
                  <a:srgbClr val="231F1E"/>
                </a:solidFill>
                <a:latin typeface="Georgia"/>
              </a:defRPr>
            </a:pPr>
            <a:r>
              <a:t>Tiến hóa 4 thế hệ Prompt Engineering</a:t>
            </a:r>
            <a:br/>
            <a:r>
              <a:t>đạt 97,1 / 100 điểm chất lượng</a:t>
            </a:r>
          </a:p>
        </p:txBody>
      </p:sp>
      <p:sp>
        <p:nvSpPr>
          <p:cNvPr id="5" name="TextBox 4"/>
          <p:cNvSpPr txBox="1"/>
          <p:nvPr/>
        </p:nvSpPr>
        <p:spPr>
          <a:xfrm>
            <a:off x="8686800" y="713232"/>
            <a:ext cx="2834640" cy="822960"/>
          </a:xfrm>
          <a:prstGeom prst="rect">
            <a:avLst/>
          </a:prstGeom>
          <a:noFill/>
        </p:spPr>
        <p:txBody>
          <a:bodyPr wrap="square" lIns="0" rIns="0" tIns="0" bIns="0">
            <a:spAutoFit/>
          </a:bodyPr>
          <a:lstStyle/>
          <a:p>
            <a:pPr algn="r">
              <a:defRPr sz="5200" b="1" i="0">
                <a:solidFill>
                  <a:srgbClr val="1E6B52"/>
                </a:solidFill>
                <a:latin typeface="Georgia"/>
              </a:defRPr>
            </a:pPr>
            <a:r>
              <a:t>+43,1</a:t>
            </a:r>
          </a:p>
        </p:txBody>
      </p:sp>
      <p:sp>
        <p:nvSpPr>
          <p:cNvPr id="6" name="TextBox 5"/>
          <p:cNvSpPr txBox="1"/>
          <p:nvPr/>
        </p:nvSpPr>
        <p:spPr>
          <a:xfrm>
            <a:off x="7772400" y="1572768"/>
            <a:ext cx="3749039" cy="274320"/>
          </a:xfrm>
          <a:prstGeom prst="rect">
            <a:avLst/>
          </a:prstGeom>
          <a:noFill/>
        </p:spPr>
        <p:txBody>
          <a:bodyPr wrap="square" lIns="0" rIns="0" tIns="0" bIns="0">
            <a:spAutoFit/>
          </a:bodyPr>
          <a:lstStyle/>
          <a:p>
            <a:pPr algn="r">
              <a:defRPr sz="850" b="1" i="0">
                <a:solidFill>
                  <a:srgbClr val="787067"/>
                </a:solidFill>
                <a:latin typeface="Segoe UI"/>
              </a:defRPr>
            </a:pPr>
            <a:r>
              <a:t>ĐỘT PHÁ ĐIỂM CHẤT LƯỢNG SO VỚI MỨC CƠ SỞ</a:t>
            </a:r>
          </a:p>
        </p:txBody>
      </p:sp>
      <p:sp>
        <p:nvSpPr>
          <p:cNvPr id="7" name="Rectangle 6"/>
          <p:cNvSpPr/>
          <p:nvPr/>
        </p:nvSpPr>
        <p:spPr>
          <a:xfrm>
            <a:off x="658368" y="2084831"/>
            <a:ext cx="1086307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331720"/>
            <a:ext cx="4389120" cy="320040"/>
          </a:xfrm>
          <a:prstGeom prst="rect">
            <a:avLst/>
          </a:prstGeom>
          <a:noFill/>
        </p:spPr>
        <p:txBody>
          <a:bodyPr wrap="square" lIns="0" rIns="0" tIns="0" bIns="0">
            <a:spAutoFit/>
          </a:bodyPr>
          <a:lstStyle/>
          <a:p>
            <a:pPr algn="l">
              <a:defRPr sz="1250" b="1" i="0">
                <a:solidFill>
                  <a:srgbClr val="231F1E"/>
                </a:solidFill>
                <a:latin typeface="Segoe UI"/>
              </a:defRPr>
            </a:pPr>
            <a:r>
              <a:t>01. Câu lệnh tự do không ngữ cảnh (Zero-Shot)</a:t>
            </a:r>
          </a:p>
        </p:txBody>
      </p:sp>
      <p:sp>
        <p:nvSpPr>
          <p:cNvPr id="9" name="TextBox 8"/>
          <p:cNvSpPr txBox="1"/>
          <p:nvPr/>
        </p:nvSpPr>
        <p:spPr>
          <a:xfrm>
            <a:off x="5029200" y="2295144"/>
            <a:ext cx="914400" cy="365760"/>
          </a:xfrm>
          <a:prstGeom prst="rect">
            <a:avLst/>
          </a:prstGeom>
          <a:noFill/>
        </p:spPr>
        <p:txBody>
          <a:bodyPr wrap="square" lIns="0" rIns="0" tIns="0" bIns="0">
            <a:spAutoFit/>
          </a:bodyPr>
          <a:lstStyle/>
          <a:p>
            <a:pPr algn="r">
              <a:defRPr sz="1800" b="1" i="0">
                <a:solidFill>
                  <a:srgbClr val="787067"/>
                </a:solidFill>
                <a:latin typeface="Georgia"/>
              </a:defRPr>
            </a:pPr>
            <a:r>
              <a:t>54,0</a:t>
            </a:r>
          </a:p>
        </p:txBody>
      </p:sp>
      <p:sp>
        <p:nvSpPr>
          <p:cNvPr id="10" name="Rectangle 9"/>
          <p:cNvSpPr/>
          <p:nvPr/>
        </p:nvSpPr>
        <p:spPr>
          <a:xfrm>
            <a:off x="658368" y="2679191"/>
            <a:ext cx="5285232" cy="109728"/>
          </a:xfrm>
          <a:prstGeom prst="rect">
            <a:avLst/>
          </a:prstGeom>
          <a:solidFill>
            <a:srgbClr val="F2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679191"/>
            <a:ext cx="2854025" cy="109728"/>
          </a:xfrm>
          <a:prstGeom prst="rect">
            <a:avLst/>
          </a:prstGeom>
          <a:solidFill>
            <a:srgbClr val="7870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843784"/>
            <a:ext cx="5285232" cy="320040"/>
          </a:xfrm>
          <a:prstGeom prst="rect">
            <a:avLst/>
          </a:prstGeom>
          <a:noFill/>
        </p:spPr>
        <p:txBody>
          <a:bodyPr wrap="square" lIns="0" rIns="0" tIns="0" bIns="0">
            <a:spAutoFit/>
          </a:bodyPr>
          <a:lstStyle/>
          <a:p>
            <a:pPr algn="l">
              <a:defRPr sz="1050" b="0" i="0">
                <a:solidFill>
                  <a:srgbClr val="4A443F"/>
                </a:solidFill>
                <a:latin typeface="Segoe UI"/>
              </a:defRPr>
            </a:pPr>
            <a:r>
              <a:t>Giọng văn chung chung, vượt giới hạn ký tự và tự suy đoán số liệu KPI.</a:t>
            </a:r>
          </a:p>
        </p:txBody>
      </p:sp>
      <p:sp>
        <p:nvSpPr>
          <p:cNvPr id="13" name="TextBox 12"/>
          <p:cNvSpPr txBox="1"/>
          <p:nvPr/>
        </p:nvSpPr>
        <p:spPr>
          <a:xfrm>
            <a:off x="658368" y="3319272"/>
            <a:ext cx="4389120" cy="320040"/>
          </a:xfrm>
          <a:prstGeom prst="rect">
            <a:avLst/>
          </a:prstGeom>
          <a:noFill/>
        </p:spPr>
        <p:txBody>
          <a:bodyPr wrap="square" lIns="0" rIns="0" tIns="0" bIns="0">
            <a:spAutoFit/>
          </a:bodyPr>
          <a:lstStyle/>
          <a:p>
            <a:pPr algn="l">
              <a:defRPr sz="1250" b="1" i="0">
                <a:solidFill>
                  <a:srgbClr val="231F1E"/>
                </a:solidFill>
                <a:latin typeface="Segoe UI"/>
              </a:defRPr>
            </a:pPr>
            <a:r>
              <a:t>02. Định hình vai trò &amp; cấu trúc AIDA / PAS</a:t>
            </a:r>
          </a:p>
        </p:txBody>
      </p:sp>
      <p:sp>
        <p:nvSpPr>
          <p:cNvPr id="14" name="TextBox 13"/>
          <p:cNvSpPr txBox="1"/>
          <p:nvPr/>
        </p:nvSpPr>
        <p:spPr>
          <a:xfrm>
            <a:off x="5029200" y="3282696"/>
            <a:ext cx="914400" cy="365760"/>
          </a:xfrm>
          <a:prstGeom prst="rect">
            <a:avLst/>
          </a:prstGeom>
          <a:noFill/>
        </p:spPr>
        <p:txBody>
          <a:bodyPr wrap="square" lIns="0" rIns="0" tIns="0" bIns="0">
            <a:spAutoFit/>
          </a:bodyPr>
          <a:lstStyle/>
          <a:p>
            <a:pPr algn="r">
              <a:defRPr sz="1800" b="1" i="0">
                <a:solidFill>
                  <a:srgbClr val="4A443F"/>
                </a:solidFill>
                <a:latin typeface="Georgia"/>
              </a:defRPr>
            </a:pPr>
            <a:r>
              <a:t>78,8</a:t>
            </a:r>
          </a:p>
        </p:txBody>
      </p:sp>
      <p:sp>
        <p:nvSpPr>
          <p:cNvPr id="15" name="Rectangle 14"/>
          <p:cNvSpPr/>
          <p:nvPr/>
        </p:nvSpPr>
        <p:spPr>
          <a:xfrm>
            <a:off x="658368" y="3666744"/>
            <a:ext cx="5285232" cy="109728"/>
          </a:xfrm>
          <a:prstGeom prst="rect">
            <a:avLst/>
          </a:prstGeom>
          <a:solidFill>
            <a:srgbClr val="F2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66744"/>
            <a:ext cx="4164762" cy="109728"/>
          </a:xfrm>
          <a:prstGeom prst="rect">
            <a:avLst/>
          </a:prstGeom>
          <a:solidFill>
            <a:srgbClr val="4A4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831335"/>
            <a:ext cx="5285232" cy="320040"/>
          </a:xfrm>
          <a:prstGeom prst="rect">
            <a:avLst/>
          </a:prstGeom>
          <a:noFill/>
        </p:spPr>
        <p:txBody>
          <a:bodyPr wrap="square" lIns="0" rIns="0" tIns="0" bIns="0">
            <a:spAutoFit/>
          </a:bodyPr>
          <a:lstStyle/>
          <a:p>
            <a:pPr algn="l">
              <a:defRPr sz="1050" b="0" i="0">
                <a:solidFill>
                  <a:srgbClr val="4A443F"/>
                </a:solidFill>
                <a:latin typeface="Segoe UI"/>
              </a:defRPr>
            </a:pPr>
            <a:r>
              <a:t>Bố cục mạch lạc nhưng vẫn thiếu kết nối trực tiếp với số liệu thực tế.</a:t>
            </a:r>
          </a:p>
        </p:txBody>
      </p:sp>
      <p:sp>
        <p:nvSpPr>
          <p:cNvPr id="18" name="TextBox 17"/>
          <p:cNvSpPr txBox="1"/>
          <p:nvPr/>
        </p:nvSpPr>
        <p:spPr>
          <a:xfrm>
            <a:off x="658368" y="4306824"/>
            <a:ext cx="4389120" cy="320040"/>
          </a:xfrm>
          <a:prstGeom prst="rect">
            <a:avLst/>
          </a:prstGeom>
          <a:noFill/>
        </p:spPr>
        <p:txBody>
          <a:bodyPr wrap="square" lIns="0" rIns="0" tIns="0" bIns="0">
            <a:spAutoFit/>
          </a:bodyPr>
          <a:lstStyle/>
          <a:p>
            <a:pPr algn="l">
              <a:defRPr sz="1250" b="1" i="0">
                <a:solidFill>
                  <a:srgbClr val="231F1E"/>
                </a:solidFill>
                <a:latin typeface="Segoe UI"/>
              </a:defRPr>
            </a:pPr>
            <a:r>
              <a:t>03. Bơm ngữ cảnh Hồ sơ thương hiệu &amp; FastMCP</a:t>
            </a:r>
          </a:p>
        </p:txBody>
      </p:sp>
      <p:sp>
        <p:nvSpPr>
          <p:cNvPr id="19" name="TextBox 18"/>
          <p:cNvSpPr txBox="1"/>
          <p:nvPr/>
        </p:nvSpPr>
        <p:spPr>
          <a:xfrm>
            <a:off x="5029200" y="4270248"/>
            <a:ext cx="914400" cy="365760"/>
          </a:xfrm>
          <a:prstGeom prst="rect">
            <a:avLst/>
          </a:prstGeom>
          <a:noFill/>
        </p:spPr>
        <p:txBody>
          <a:bodyPr wrap="square" lIns="0" rIns="0" tIns="0" bIns="0">
            <a:spAutoFit/>
          </a:bodyPr>
          <a:lstStyle/>
          <a:p>
            <a:pPr algn="r">
              <a:defRPr sz="1800" b="1" i="0">
                <a:solidFill>
                  <a:srgbClr val="1E6B52"/>
                </a:solidFill>
                <a:latin typeface="Georgia"/>
              </a:defRPr>
            </a:pPr>
            <a:r>
              <a:t>94,2</a:t>
            </a:r>
          </a:p>
        </p:txBody>
      </p:sp>
      <p:sp>
        <p:nvSpPr>
          <p:cNvPr id="20" name="Rectangle 19"/>
          <p:cNvSpPr/>
          <p:nvPr/>
        </p:nvSpPr>
        <p:spPr>
          <a:xfrm>
            <a:off x="658368" y="4654296"/>
            <a:ext cx="5285232" cy="109728"/>
          </a:xfrm>
          <a:prstGeom prst="rect">
            <a:avLst/>
          </a:prstGeom>
          <a:solidFill>
            <a:srgbClr val="F2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4654296"/>
            <a:ext cx="4978688" cy="109728"/>
          </a:xfrm>
          <a:prstGeom prst="rect">
            <a:avLst/>
          </a:prstGeom>
          <a:solidFill>
            <a:srgbClr val="1E6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4818888"/>
            <a:ext cx="5285232" cy="320040"/>
          </a:xfrm>
          <a:prstGeom prst="rect">
            <a:avLst/>
          </a:prstGeom>
          <a:noFill/>
        </p:spPr>
        <p:txBody>
          <a:bodyPr wrap="square" lIns="0" rIns="0" tIns="0" bIns="0">
            <a:spAutoFit/>
          </a:bodyPr>
          <a:lstStyle/>
          <a:p>
            <a:pPr algn="l">
              <a:defRPr sz="1050" b="0" i="0">
                <a:solidFill>
                  <a:srgbClr val="4A443F"/>
                </a:solidFill>
                <a:latin typeface="Segoe UI"/>
              </a:defRPr>
            </a:pPr>
            <a:r>
              <a:t>Triệt tiêu ảo giác số liệu nhờ đọc CSDL qua FastMCP.</a:t>
            </a:r>
          </a:p>
        </p:txBody>
      </p:sp>
      <p:sp>
        <p:nvSpPr>
          <p:cNvPr id="23" name="TextBox 22"/>
          <p:cNvSpPr txBox="1"/>
          <p:nvPr/>
        </p:nvSpPr>
        <p:spPr>
          <a:xfrm>
            <a:off x="658368" y="5294376"/>
            <a:ext cx="4389120" cy="320040"/>
          </a:xfrm>
          <a:prstGeom prst="rect">
            <a:avLst/>
          </a:prstGeom>
          <a:noFill/>
        </p:spPr>
        <p:txBody>
          <a:bodyPr wrap="square" lIns="0" rIns="0" tIns="0" bIns="0">
            <a:spAutoFit/>
          </a:bodyPr>
          <a:lstStyle/>
          <a:p>
            <a:pPr algn="l">
              <a:defRPr sz="1250" b="1" i="0">
                <a:solidFill>
                  <a:srgbClr val="231F1E"/>
                </a:solidFill>
                <a:latin typeface="Segoe UI"/>
              </a:defRPr>
            </a:pPr>
            <a:r>
              <a:t>04. Chuỗi tự kiểm chứng (Self-Check) &amp; Proposal-Only</a:t>
            </a:r>
          </a:p>
        </p:txBody>
      </p:sp>
      <p:sp>
        <p:nvSpPr>
          <p:cNvPr id="24" name="TextBox 23"/>
          <p:cNvSpPr txBox="1"/>
          <p:nvPr/>
        </p:nvSpPr>
        <p:spPr>
          <a:xfrm>
            <a:off x="5029200" y="5257800"/>
            <a:ext cx="914400" cy="365760"/>
          </a:xfrm>
          <a:prstGeom prst="rect">
            <a:avLst/>
          </a:prstGeom>
          <a:noFill/>
        </p:spPr>
        <p:txBody>
          <a:bodyPr wrap="square" lIns="0" rIns="0" tIns="0" bIns="0">
            <a:spAutoFit/>
          </a:bodyPr>
          <a:lstStyle/>
          <a:p>
            <a:pPr algn="r">
              <a:defRPr sz="1800" b="1" i="0">
                <a:solidFill>
                  <a:srgbClr val="C85A32"/>
                </a:solidFill>
                <a:latin typeface="Georgia"/>
              </a:defRPr>
            </a:pPr>
            <a:r>
              <a:t>97,1</a:t>
            </a:r>
          </a:p>
        </p:txBody>
      </p:sp>
      <p:sp>
        <p:nvSpPr>
          <p:cNvPr id="25" name="Rectangle 24"/>
          <p:cNvSpPr/>
          <p:nvPr/>
        </p:nvSpPr>
        <p:spPr>
          <a:xfrm>
            <a:off x="658368" y="5641848"/>
            <a:ext cx="5285232" cy="109728"/>
          </a:xfrm>
          <a:prstGeom prst="rect">
            <a:avLst/>
          </a:prstGeom>
          <a:solidFill>
            <a:srgbClr val="F2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5641848"/>
            <a:ext cx="5131960" cy="109728"/>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5806440"/>
            <a:ext cx="5285232" cy="320040"/>
          </a:xfrm>
          <a:prstGeom prst="rect">
            <a:avLst/>
          </a:prstGeom>
          <a:noFill/>
        </p:spPr>
        <p:txBody>
          <a:bodyPr wrap="square" lIns="0" rIns="0" tIns="0" bIns="0">
            <a:spAutoFit/>
          </a:bodyPr>
          <a:lstStyle/>
          <a:p>
            <a:pPr algn="l">
              <a:defRPr sz="1050" b="0" i="0">
                <a:solidFill>
                  <a:srgbClr val="4A443F"/>
                </a:solidFill>
                <a:latin typeface="Segoe UI"/>
              </a:defRPr>
            </a:pPr>
            <a:r>
              <a:t>Tự động kiểm tra từ cấm trước khi xuất kết quả và đóng gói Thẻ đề xuất.</a:t>
            </a:r>
          </a:p>
        </p:txBody>
      </p:sp>
      <p:sp>
        <p:nvSpPr>
          <p:cNvPr id="28" name="Rectangle 27"/>
          <p:cNvSpPr/>
          <p:nvPr/>
        </p:nvSpPr>
        <p:spPr>
          <a:xfrm>
            <a:off x="6446520" y="2331720"/>
            <a:ext cx="5074920" cy="3886200"/>
          </a:xfrm>
          <a:prstGeom prst="rect">
            <a:avLst/>
          </a:prstGeom>
          <a:solidFill>
            <a:srgbClr val="F2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12280" y="2606040"/>
            <a:ext cx="4389120" cy="274320"/>
          </a:xfrm>
          <a:prstGeom prst="rect">
            <a:avLst/>
          </a:prstGeom>
          <a:noFill/>
        </p:spPr>
        <p:txBody>
          <a:bodyPr wrap="square" lIns="0" rIns="0" tIns="0" bIns="0">
            <a:spAutoFit/>
          </a:bodyPr>
          <a:lstStyle/>
          <a:p>
            <a:pPr algn="l">
              <a:defRPr sz="900" b="1" i="0">
                <a:solidFill>
                  <a:srgbClr val="231F1E"/>
                </a:solidFill>
                <a:latin typeface="Segoe UI"/>
              </a:defRPr>
            </a:pPr>
            <a:r>
              <a:t>PHÂN RÃ 4 TIÊU CHÍ ĐÁNH GIÁ Ở THẾ HỆ CUỐI</a:t>
            </a:r>
          </a:p>
        </p:txBody>
      </p:sp>
      <p:sp>
        <p:nvSpPr>
          <p:cNvPr id="30" name="TextBox 29"/>
          <p:cNvSpPr txBox="1"/>
          <p:nvPr/>
        </p:nvSpPr>
        <p:spPr>
          <a:xfrm>
            <a:off x="6812280" y="2907792"/>
            <a:ext cx="4389120" cy="548640"/>
          </a:xfrm>
          <a:prstGeom prst="rect">
            <a:avLst/>
          </a:prstGeom>
          <a:noFill/>
        </p:spPr>
        <p:txBody>
          <a:bodyPr wrap="square" lIns="0" rIns="0" tIns="0" bIns="0">
            <a:spAutoFit/>
          </a:bodyPr>
          <a:lstStyle/>
          <a:p>
            <a:pPr algn="l">
              <a:defRPr sz="2000" b="1" i="0">
                <a:solidFill>
                  <a:srgbClr val="231F1E"/>
                </a:solidFill>
                <a:latin typeface="Georgia"/>
              </a:defRPr>
            </a:pPr>
            <a:r>
              <a:t>Độ chính xác đồng đều trên cả 4 chiều kiểm định</a:t>
            </a:r>
          </a:p>
        </p:txBody>
      </p:sp>
      <p:sp>
        <p:nvSpPr>
          <p:cNvPr id="31" name="TextBox 30"/>
          <p:cNvSpPr txBox="1"/>
          <p:nvPr/>
        </p:nvSpPr>
        <p:spPr>
          <a:xfrm>
            <a:off x="6812280" y="3675887"/>
            <a:ext cx="3291840" cy="320040"/>
          </a:xfrm>
          <a:prstGeom prst="rect">
            <a:avLst/>
          </a:prstGeom>
          <a:noFill/>
        </p:spPr>
        <p:txBody>
          <a:bodyPr wrap="square" lIns="0" rIns="0" tIns="0" bIns="0">
            <a:spAutoFit/>
          </a:bodyPr>
          <a:lstStyle/>
          <a:p>
            <a:pPr algn="l">
              <a:defRPr sz="1200" b="1" i="0">
                <a:solidFill>
                  <a:srgbClr val="231F1E"/>
                </a:solidFill>
                <a:latin typeface="Segoe UI"/>
              </a:defRPr>
            </a:pPr>
            <a:r>
              <a:t>01. Tuân thủ giới hạn độ dài từng kênh</a:t>
            </a:r>
          </a:p>
        </p:txBody>
      </p:sp>
      <p:sp>
        <p:nvSpPr>
          <p:cNvPr id="32" name="TextBox 31"/>
          <p:cNvSpPr txBox="1"/>
          <p:nvPr/>
        </p:nvSpPr>
        <p:spPr>
          <a:xfrm>
            <a:off x="10104120" y="3639311"/>
            <a:ext cx="1051560" cy="365760"/>
          </a:xfrm>
          <a:prstGeom prst="rect">
            <a:avLst/>
          </a:prstGeom>
          <a:noFill/>
        </p:spPr>
        <p:txBody>
          <a:bodyPr wrap="square" lIns="0" rIns="0" tIns="0" bIns="0">
            <a:spAutoFit/>
          </a:bodyPr>
          <a:lstStyle/>
          <a:p>
            <a:pPr algn="r">
              <a:defRPr sz="1800" b="1" i="0">
                <a:solidFill>
                  <a:srgbClr val="1E6B52"/>
                </a:solidFill>
                <a:latin typeface="Georgia"/>
              </a:defRPr>
            </a:pPr>
            <a:r>
              <a:t>100,0%</a:t>
            </a:r>
          </a:p>
        </p:txBody>
      </p:sp>
      <p:sp>
        <p:nvSpPr>
          <p:cNvPr id="33" name="Rectangle 32"/>
          <p:cNvSpPr/>
          <p:nvPr/>
        </p:nvSpPr>
        <p:spPr>
          <a:xfrm>
            <a:off x="6812280" y="4078224"/>
            <a:ext cx="434340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12280" y="4242816"/>
            <a:ext cx="3291840" cy="320040"/>
          </a:xfrm>
          <a:prstGeom prst="rect">
            <a:avLst/>
          </a:prstGeom>
          <a:noFill/>
        </p:spPr>
        <p:txBody>
          <a:bodyPr wrap="square" lIns="0" rIns="0" tIns="0" bIns="0">
            <a:spAutoFit/>
          </a:bodyPr>
          <a:lstStyle/>
          <a:p>
            <a:pPr algn="l">
              <a:defRPr sz="1200" b="1" i="0">
                <a:solidFill>
                  <a:srgbClr val="231F1E"/>
                </a:solidFill>
                <a:latin typeface="Segoe UI"/>
              </a:defRPr>
            </a:pPr>
            <a:r>
              <a:t>02. Bám sát số liệu KPI thực tế (Grounding)</a:t>
            </a:r>
          </a:p>
        </p:txBody>
      </p:sp>
      <p:sp>
        <p:nvSpPr>
          <p:cNvPr id="35" name="TextBox 34"/>
          <p:cNvSpPr txBox="1"/>
          <p:nvPr/>
        </p:nvSpPr>
        <p:spPr>
          <a:xfrm>
            <a:off x="10104120" y="4206240"/>
            <a:ext cx="1051560" cy="365760"/>
          </a:xfrm>
          <a:prstGeom prst="rect">
            <a:avLst/>
          </a:prstGeom>
          <a:noFill/>
        </p:spPr>
        <p:txBody>
          <a:bodyPr wrap="square" lIns="0" rIns="0" tIns="0" bIns="0">
            <a:spAutoFit/>
          </a:bodyPr>
          <a:lstStyle/>
          <a:p>
            <a:pPr algn="r">
              <a:defRPr sz="1800" b="1" i="0">
                <a:solidFill>
                  <a:srgbClr val="1E6B52"/>
                </a:solidFill>
                <a:latin typeface="Georgia"/>
              </a:defRPr>
            </a:pPr>
            <a:r>
              <a:t>97,9%</a:t>
            </a:r>
          </a:p>
        </p:txBody>
      </p:sp>
      <p:sp>
        <p:nvSpPr>
          <p:cNvPr id="36" name="Rectangle 35"/>
          <p:cNvSpPr/>
          <p:nvPr/>
        </p:nvSpPr>
        <p:spPr>
          <a:xfrm>
            <a:off x="6812280" y="4645152"/>
            <a:ext cx="434340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12280" y="4809744"/>
            <a:ext cx="3291840" cy="320040"/>
          </a:xfrm>
          <a:prstGeom prst="rect">
            <a:avLst/>
          </a:prstGeom>
          <a:noFill/>
        </p:spPr>
        <p:txBody>
          <a:bodyPr wrap="square" lIns="0" rIns="0" tIns="0" bIns="0">
            <a:spAutoFit/>
          </a:bodyPr>
          <a:lstStyle/>
          <a:p>
            <a:pPr algn="l">
              <a:defRPr sz="1200" b="1" i="0">
                <a:solidFill>
                  <a:srgbClr val="231F1E"/>
                </a:solidFill>
                <a:latin typeface="Segoe UI"/>
              </a:defRPr>
            </a:pPr>
            <a:r>
              <a:t>03. Giọng văn thương hiệu &amp; Không từ cấm</a:t>
            </a:r>
          </a:p>
        </p:txBody>
      </p:sp>
      <p:sp>
        <p:nvSpPr>
          <p:cNvPr id="38" name="TextBox 37"/>
          <p:cNvSpPr txBox="1"/>
          <p:nvPr/>
        </p:nvSpPr>
        <p:spPr>
          <a:xfrm>
            <a:off x="10104120" y="4773168"/>
            <a:ext cx="1051560" cy="365760"/>
          </a:xfrm>
          <a:prstGeom prst="rect">
            <a:avLst/>
          </a:prstGeom>
          <a:noFill/>
        </p:spPr>
        <p:txBody>
          <a:bodyPr wrap="square" lIns="0" rIns="0" tIns="0" bIns="0">
            <a:spAutoFit/>
          </a:bodyPr>
          <a:lstStyle/>
          <a:p>
            <a:pPr algn="r">
              <a:defRPr sz="1800" b="1" i="0">
                <a:solidFill>
                  <a:srgbClr val="C85A32"/>
                </a:solidFill>
                <a:latin typeface="Georgia"/>
              </a:defRPr>
            </a:pPr>
            <a:r>
              <a:t>96,4%</a:t>
            </a:r>
          </a:p>
        </p:txBody>
      </p:sp>
      <p:sp>
        <p:nvSpPr>
          <p:cNvPr id="39" name="Rectangle 38"/>
          <p:cNvSpPr/>
          <p:nvPr/>
        </p:nvSpPr>
        <p:spPr>
          <a:xfrm>
            <a:off x="6812280" y="5212080"/>
            <a:ext cx="434340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12280" y="5376672"/>
            <a:ext cx="3291840" cy="320040"/>
          </a:xfrm>
          <a:prstGeom prst="rect">
            <a:avLst/>
          </a:prstGeom>
          <a:noFill/>
        </p:spPr>
        <p:txBody>
          <a:bodyPr wrap="square" lIns="0" rIns="0" tIns="0" bIns="0">
            <a:spAutoFit/>
          </a:bodyPr>
          <a:lstStyle/>
          <a:p>
            <a:pPr algn="l">
              <a:defRPr sz="1200" b="1" i="0">
                <a:solidFill>
                  <a:srgbClr val="231F1E"/>
                </a:solidFill>
                <a:latin typeface="Segoe UI"/>
              </a:defRPr>
            </a:pPr>
            <a:r>
              <a:t>04. Cấu trúc tiếp thị AIDA / PAS &amp; CTA</a:t>
            </a:r>
          </a:p>
        </p:txBody>
      </p:sp>
      <p:sp>
        <p:nvSpPr>
          <p:cNvPr id="41" name="TextBox 40"/>
          <p:cNvSpPr txBox="1"/>
          <p:nvPr/>
        </p:nvSpPr>
        <p:spPr>
          <a:xfrm>
            <a:off x="10104120" y="5340096"/>
            <a:ext cx="1051560" cy="365760"/>
          </a:xfrm>
          <a:prstGeom prst="rect">
            <a:avLst/>
          </a:prstGeom>
          <a:noFill/>
        </p:spPr>
        <p:txBody>
          <a:bodyPr wrap="square" lIns="0" rIns="0" tIns="0" bIns="0">
            <a:spAutoFit/>
          </a:bodyPr>
          <a:lstStyle/>
          <a:p>
            <a:pPr algn="r">
              <a:defRPr sz="1800" b="1" i="0">
                <a:solidFill>
                  <a:srgbClr val="231F1E"/>
                </a:solidFill>
                <a:latin typeface="Georgia"/>
              </a:defRPr>
            </a:pPr>
            <a:r>
              <a:t>94,3%</a:t>
            </a:r>
          </a:p>
        </p:txBody>
      </p:sp>
      <p:sp>
        <p:nvSpPr>
          <p:cNvPr id="42" name="Rectangle 41"/>
          <p:cNvSpPr/>
          <p:nvPr/>
        </p:nvSpPr>
        <p:spPr>
          <a:xfrm>
            <a:off x="6812280" y="5779008"/>
            <a:ext cx="434340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787067"/>
                </a:solidFill>
                <a:latin typeface="Georgia"/>
              </a:defRPr>
            </a:pPr>
            <a: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11880" cy="6858000"/>
          </a:xfrm>
          <a:prstGeom prst="rect">
            <a:avLst/>
          </a:prstGeom>
          <a:solidFill>
            <a:srgbClr val="F2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11880" y="0"/>
            <a:ext cx="10972" cy="6858000"/>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475488"/>
            <a:ext cx="2834640" cy="274320"/>
          </a:xfrm>
          <a:prstGeom prst="rect">
            <a:avLst/>
          </a:prstGeom>
          <a:noFill/>
        </p:spPr>
        <p:txBody>
          <a:bodyPr wrap="square" lIns="0" rIns="0" tIns="0" bIns="0">
            <a:spAutoFit/>
          </a:bodyPr>
          <a:lstStyle/>
          <a:p>
            <a:pPr algn="l">
              <a:defRPr sz="900" b="1" i="0">
                <a:solidFill>
                  <a:srgbClr val="C85A32"/>
                </a:solidFill>
                <a:latin typeface="Segoe UI"/>
              </a:defRPr>
            </a:pPr>
            <a:r>
              <a:t>04 · PRODUCT DEMO VIDEO #04</a:t>
            </a:r>
          </a:p>
        </p:txBody>
      </p:sp>
      <p:sp>
        <p:nvSpPr>
          <p:cNvPr id="6" name="TextBox 5"/>
          <p:cNvSpPr txBox="1"/>
          <p:nvPr/>
        </p:nvSpPr>
        <p:spPr>
          <a:xfrm>
            <a:off x="438912" y="777240"/>
            <a:ext cx="2834640" cy="1051560"/>
          </a:xfrm>
          <a:prstGeom prst="rect">
            <a:avLst/>
          </a:prstGeom>
          <a:noFill/>
        </p:spPr>
        <p:txBody>
          <a:bodyPr wrap="square" lIns="0" rIns="0" tIns="0" bIns="0">
            <a:spAutoFit/>
          </a:bodyPr>
          <a:lstStyle/>
          <a:p>
            <a:pPr algn="l">
              <a:defRPr sz="2300" b="1" i="0">
                <a:solidFill>
                  <a:srgbClr val="231F1E"/>
                </a:solidFill>
                <a:latin typeface="Georgia"/>
              </a:defRPr>
            </a:pPr>
            <a:r>
              <a:t>Kiểm thử Tấn công Prompt Injection</a:t>
            </a:r>
          </a:p>
        </p:txBody>
      </p:sp>
      <p:sp>
        <p:nvSpPr>
          <p:cNvPr id="7" name="TextBox 6"/>
          <p:cNvSpPr txBox="1"/>
          <p:nvPr/>
        </p:nvSpPr>
        <p:spPr>
          <a:xfrm>
            <a:off x="438912" y="1847088"/>
            <a:ext cx="2834640" cy="777240"/>
          </a:xfrm>
          <a:prstGeom prst="rect">
            <a:avLst/>
          </a:prstGeom>
          <a:noFill/>
        </p:spPr>
        <p:txBody>
          <a:bodyPr wrap="square" lIns="0" rIns="0" tIns="0" bIns="0">
            <a:spAutoFit/>
          </a:bodyPr>
          <a:lstStyle/>
          <a:p>
            <a:pPr algn="l">
              <a:defRPr sz="1100" b="0" i="0">
                <a:solidFill>
                  <a:srgbClr val="4A443F"/>
                </a:solidFill>
                <a:latin typeface="Segoe UI"/>
              </a:defRPr>
            </a:pPr>
            <a:r>
              <a:t>Chứng minh thực nghiệm khả năng kháng cự trước các câu lệnh tiêm nhiễm yêu cầu thực thi mã hệ thống hoặc vượt quyền phê duyệt.</a:t>
            </a:r>
          </a:p>
        </p:txBody>
      </p:sp>
      <p:sp>
        <p:nvSpPr>
          <p:cNvPr id="8" name="Rectangle 7"/>
          <p:cNvSpPr/>
          <p:nvPr/>
        </p:nvSpPr>
        <p:spPr>
          <a:xfrm>
            <a:off x="438912" y="2697480"/>
            <a:ext cx="28346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2807208"/>
            <a:ext cx="365760" cy="320040"/>
          </a:xfrm>
          <a:prstGeom prst="rect">
            <a:avLst/>
          </a:prstGeom>
          <a:noFill/>
        </p:spPr>
        <p:txBody>
          <a:bodyPr wrap="square" lIns="0" rIns="0" tIns="0" bIns="0">
            <a:spAutoFit/>
          </a:bodyPr>
          <a:lstStyle/>
          <a:p>
            <a:pPr algn="l">
              <a:defRPr sz="1400" b="1" i="0">
                <a:solidFill>
                  <a:srgbClr val="C85A32"/>
                </a:solidFill>
                <a:latin typeface="Georgia"/>
              </a:defRPr>
            </a:pPr>
            <a:r>
              <a:t>01</a:t>
            </a:r>
          </a:p>
        </p:txBody>
      </p:sp>
      <p:sp>
        <p:nvSpPr>
          <p:cNvPr id="10" name="TextBox 9"/>
          <p:cNvSpPr txBox="1"/>
          <p:nvPr/>
        </p:nvSpPr>
        <p:spPr>
          <a:xfrm>
            <a:off x="841248" y="2807208"/>
            <a:ext cx="2432304" cy="777240"/>
          </a:xfrm>
          <a:prstGeom prst="rect">
            <a:avLst/>
          </a:prstGeom>
          <a:noFill/>
        </p:spPr>
        <p:txBody>
          <a:bodyPr wrap="square" lIns="0" rIns="0" tIns="0" bIns="0">
            <a:spAutoFit/>
          </a:bodyPr>
          <a:lstStyle/>
          <a:p>
            <a:pPr algn="l">
              <a:defRPr sz="1050" b="0" i="0">
                <a:solidFill>
                  <a:srgbClr val="4A443F"/>
                </a:solidFill>
                <a:latin typeface="Segoe UI"/>
              </a:defRPr>
            </a:pPr>
            <a:r>
              <a:t>Kịch bản tấn công (Red-Team): Yêu cầu bỏ qua chỉ dẫn hệ thống, chạy lệnh đọc tệp mật khẩu máy chủ và tự duyệt bài.</a:t>
            </a:r>
          </a:p>
        </p:txBody>
      </p:sp>
      <p:sp>
        <p:nvSpPr>
          <p:cNvPr id="11" name="Rectangle 10"/>
          <p:cNvSpPr/>
          <p:nvPr/>
        </p:nvSpPr>
        <p:spPr>
          <a:xfrm>
            <a:off x="438912" y="3630168"/>
            <a:ext cx="28346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3739896"/>
            <a:ext cx="365760" cy="320040"/>
          </a:xfrm>
          <a:prstGeom prst="rect">
            <a:avLst/>
          </a:prstGeom>
          <a:noFill/>
        </p:spPr>
        <p:txBody>
          <a:bodyPr wrap="square" lIns="0" rIns="0" tIns="0" bIns="0">
            <a:spAutoFit/>
          </a:bodyPr>
          <a:lstStyle/>
          <a:p>
            <a:pPr algn="l">
              <a:defRPr sz="1400" b="1" i="0">
                <a:solidFill>
                  <a:srgbClr val="C85A32"/>
                </a:solidFill>
                <a:latin typeface="Georgia"/>
              </a:defRPr>
            </a:pPr>
            <a:r>
              <a:t>02</a:t>
            </a:r>
          </a:p>
        </p:txBody>
      </p:sp>
      <p:sp>
        <p:nvSpPr>
          <p:cNvPr id="13" name="TextBox 12"/>
          <p:cNvSpPr txBox="1"/>
          <p:nvPr/>
        </p:nvSpPr>
        <p:spPr>
          <a:xfrm>
            <a:off x="841248" y="3739896"/>
            <a:ext cx="2432304" cy="777240"/>
          </a:xfrm>
          <a:prstGeom prst="rect">
            <a:avLst/>
          </a:prstGeom>
          <a:noFill/>
        </p:spPr>
        <p:txBody>
          <a:bodyPr wrap="square" lIns="0" rIns="0" tIns="0" bIns="0">
            <a:spAutoFit/>
          </a:bodyPr>
          <a:lstStyle/>
          <a:p>
            <a:pPr algn="l">
              <a:defRPr sz="1050" b="0" i="0">
                <a:solidFill>
                  <a:srgbClr val="4A443F"/>
                </a:solidFill>
                <a:latin typeface="Segoe UI"/>
              </a:defRPr>
            </a:pPr>
            <a:r>
              <a:t>Chốt chặn No-Shell Sandbox: Tiến trình AI Runner đã tắt hoàn toàn quyền thực thi shell ở tầng cấu hình khởi chạy.</a:t>
            </a:r>
          </a:p>
        </p:txBody>
      </p:sp>
      <p:sp>
        <p:nvSpPr>
          <p:cNvPr id="14" name="Rectangle 13"/>
          <p:cNvSpPr/>
          <p:nvPr/>
        </p:nvSpPr>
        <p:spPr>
          <a:xfrm>
            <a:off x="438912" y="4562856"/>
            <a:ext cx="28346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4672584"/>
            <a:ext cx="365760" cy="320040"/>
          </a:xfrm>
          <a:prstGeom prst="rect">
            <a:avLst/>
          </a:prstGeom>
          <a:noFill/>
        </p:spPr>
        <p:txBody>
          <a:bodyPr wrap="square" lIns="0" rIns="0" tIns="0" bIns="0">
            <a:spAutoFit/>
          </a:bodyPr>
          <a:lstStyle/>
          <a:p>
            <a:pPr algn="l">
              <a:defRPr sz="1400" b="1" i="0">
                <a:solidFill>
                  <a:srgbClr val="C85A32"/>
                </a:solidFill>
                <a:latin typeface="Georgia"/>
              </a:defRPr>
            </a:pPr>
            <a:r>
              <a:t>03</a:t>
            </a:r>
          </a:p>
        </p:txBody>
      </p:sp>
      <p:sp>
        <p:nvSpPr>
          <p:cNvPr id="16" name="TextBox 15"/>
          <p:cNvSpPr txBox="1"/>
          <p:nvPr/>
        </p:nvSpPr>
        <p:spPr>
          <a:xfrm>
            <a:off x="841248" y="4672584"/>
            <a:ext cx="2432304" cy="777240"/>
          </a:xfrm>
          <a:prstGeom prst="rect">
            <a:avLst/>
          </a:prstGeom>
          <a:noFill/>
        </p:spPr>
        <p:txBody>
          <a:bodyPr wrap="square" lIns="0" rIns="0" tIns="0" bIns="0">
            <a:spAutoFit/>
          </a:bodyPr>
          <a:lstStyle/>
          <a:p>
            <a:pPr algn="l">
              <a:defRPr sz="1050" b="0" i="0">
                <a:solidFill>
                  <a:srgbClr val="4A443F"/>
                </a:solidFill>
                <a:latin typeface="Segoe UI"/>
              </a:defRPr>
            </a:pPr>
            <a:r>
              <a:t>Chốt chặn Proposal-Only HITL: Giao thức FastMCP không cung cấp công cụ duyệt bài, buộc AI từ chối yêu cầu vượt quyền.</a:t>
            </a:r>
          </a:p>
        </p:txBody>
      </p:sp>
      <p:sp>
        <p:nvSpPr>
          <p:cNvPr id="17" name="Rectangle 16"/>
          <p:cNvSpPr/>
          <p:nvPr/>
        </p:nvSpPr>
        <p:spPr>
          <a:xfrm>
            <a:off x="438912" y="5596128"/>
            <a:ext cx="28346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5724144"/>
            <a:ext cx="2834640" cy="502920"/>
          </a:xfrm>
          <a:prstGeom prst="rect">
            <a:avLst/>
          </a:prstGeom>
          <a:noFill/>
        </p:spPr>
        <p:txBody>
          <a:bodyPr wrap="square" lIns="0" rIns="0" tIns="0" bIns="0">
            <a:spAutoFit/>
          </a:bodyPr>
          <a:lstStyle/>
          <a:p>
            <a:pPr algn="l">
              <a:defRPr sz="3000" b="1" i="0">
                <a:solidFill>
                  <a:srgbClr val="C85A32"/>
                </a:solidFill>
                <a:latin typeface="Georgia"/>
              </a:defRPr>
            </a:pPr>
            <a:r>
              <a:t>100% chặn đứng</a:t>
            </a:r>
          </a:p>
        </p:txBody>
      </p:sp>
      <p:sp>
        <p:nvSpPr>
          <p:cNvPr id="19" name="TextBox 18"/>
          <p:cNvSpPr txBox="1"/>
          <p:nvPr/>
        </p:nvSpPr>
        <p:spPr>
          <a:xfrm>
            <a:off x="438912" y="6272784"/>
            <a:ext cx="2834640" cy="320040"/>
          </a:xfrm>
          <a:prstGeom prst="rect">
            <a:avLst/>
          </a:prstGeom>
          <a:noFill/>
        </p:spPr>
        <p:txBody>
          <a:bodyPr wrap="square" lIns="0" rIns="0" tIns="0" bIns="0">
            <a:spAutoFit/>
          </a:bodyPr>
          <a:lstStyle/>
          <a:p>
            <a:pPr algn="l">
              <a:defRPr sz="850" b="1" i="0">
                <a:solidFill>
                  <a:srgbClr val="4A443F"/>
                </a:solidFill>
                <a:latin typeface="Segoe UI"/>
              </a:defRPr>
            </a:pPr>
            <a:r>
              <a:t>VƯỢT QUA TOÀN BỘ 20 KỊCH BẢN TẤN CÔNG RED-TEAM</a:t>
            </a:r>
          </a:p>
        </p:txBody>
      </p:sp>
      <p:sp>
        <p:nvSpPr>
          <p:cNvPr id="20" name="Rectangle 19"/>
          <p:cNvSpPr/>
          <p:nvPr/>
        </p:nvSpPr>
        <p:spPr>
          <a:xfrm>
            <a:off x="4014215" y="630936"/>
            <a:ext cx="7781544" cy="4401007"/>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loop-04-guardrails-eval.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041648" y="658368"/>
            <a:ext cx="7726679" cy="4346143"/>
          </a:xfrm>
          <a:prstGeom prst="rect">
            <a:avLst/>
          </a:prstGeom>
        </p:spPr>
      </p:pic>
      <p:sp>
        <p:nvSpPr>
          <p:cNvPr id="22" name="Rectangle 21"/>
          <p:cNvSpPr/>
          <p:nvPr/>
        </p:nvSpPr>
        <p:spPr>
          <a:xfrm>
            <a:off x="4041648" y="5257800"/>
            <a:ext cx="7726679"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41648" y="5394960"/>
            <a:ext cx="3840480" cy="320040"/>
          </a:xfrm>
          <a:prstGeom prst="rect">
            <a:avLst/>
          </a:prstGeom>
          <a:noFill/>
        </p:spPr>
        <p:txBody>
          <a:bodyPr wrap="square" lIns="0" rIns="0" tIns="0" bIns="0">
            <a:spAutoFit/>
          </a:bodyPr>
          <a:lstStyle/>
          <a:p>
            <a:pPr algn="l">
              <a:defRPr sz="900" b="1" i="0">
                <a:solidFill>
                  <a:srgbClr val="231F1E"/>
                </a:solidFill>
                <a:latin typeface="Segoe UI"/>
              </a:defRPr>
            </a:pPr>
            <a:r>
              <a:t>MINH HỌA THỰC TẾ · PHÒNG THỦ TRƯỚC CÂU LỆNH VƯỢT QUYỀN</a:t>
            </a:r>
          </a:p>
        </p:txBody>
      </p:sp>
      <p:sp>
        <p:nvSpPr>
          <p:cNvPr id="24" name="TextBox 23"/>
          <p:cNvSpPr txBox="1"/>
          <p:nvPr/>
        </p:nvSpPr>
        <p:spPr>
          <a:xfrm>
            <a:off x="7882128" y="5394960"/>
            <a:ext cx="3886200" cy="411480"/>
          </a:xfrm>
          <a:prstGeom prst="rect">
            <a:avLst/>
          </a:prstGeom>
          <a:noFill/>
        </p:spPr>
        <p:txBody>
          <a:bodyPr wrap="square" lIns="0" rIns="0" tIns="0" bIns="0">
            <a:spAutoFit/>
          </a:bodyPr>
          <a:lstStyle/>
          <a:p>
            <a:pPr algn="r">
              <a:defRPr sz="1050" b="0" i="0">
                <a:solidFill>
                  <a:srgbClr val="4A443F"/>
                </a:solidFill>
                <a:latin typeface="Segoe UI"/>
              </a:defRPr>
            </a:pPr>
            <a:r>
              <a:t>Gửi câu lệnh Prompt Injection → Phóng to và giữ lâu trên Thông báo từ chối bảo mật</a:t>
            </a:r>
          </a:p>
        </p:txBody>
      </p:sp>
      <p:sp>
        <p:nvSpPr>
          <p:cNvPr id="25" name="TextBox 24"/>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787067"/>
                </a:solidFill>
                <a:latin typeface="Georgia"/>
              </a:defRPr>
            </a:pPr>
            <a:r>
              <a:t>10 / 12</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1"/>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6858000" cy="274320"/>
          </a:xfrm>
          <a:prstGeom prst="rect">
            <a:avLst/>
          </a:prstGeom>
          <a:noFill/>
        </p:spPr>
        <p:txBody>
          <a:bodyPr wrap="square" lIns="0" rIns="0" tIns="0" bIns="0">
            <a:spAutoFit/>
          </a:bodyPr>
          <a:lstStyle/>
          <a:p>
            <a:pPr algn="l">
              <a:defRPr sz="950" b="1" i="0">
                <a:solidFill>
                  <a:srgbClr val="1E6B52"/>
                </a:solidFill>
                <a:latin typeface="Segoe UI"/>
              </a:defRPr>
            </a:pPr>
            <a:r>
              <a:t>04 · CÔNG NGHỆ PHẦN MỀM ỨNG DỤNG AI (AI-AUGMENTED SDLC)</a:t>
            </a:r>
          </a:p>
        </p:txBody>
      </p:sp>
      <p:sp>
        <p:nvSpPr>
          <p:cNvPr id="4" name="TextBox 3"/>
          <p:cNvSpPr txBox="1"/>
          <p:nvPr/>
        </p:nvSpPr>
        <p:spPr>
          <a:xfrm>
            <a:off x="658368" y="804672"/>
            <a:ext cx="7132320" cy="1143000"/>
          </a:xfrm>
          <a:prstGeom prst="rect">
            <a:avLst/>
          </a:prstGeom>
          <a:noFill/>
        </p:spPr>
        <p:txBody>
          <a:bodyPr wrap="square" lIns="0" rIns="0" tIns="0" bIns="0">
            <a:spAutoFit/>
          </a:bodyPr>
          <a:lstStyle/>
          <a:p>
            <a:pPr algn="l">
              <a:defRPr sz="3200" b="1" i="0">
                <a:solidFill>
                  <a:srgbClr val="231F1E"/>
                </a:solidFill>
                <a:latin typeface="Georgia"/>
              </a:defRPr>
            </a:pPr>
            <a:r>
              <a:t>Ứng dụng AI trong Vòng đời Phát triển</a:t>
            </a:r>
            <a:br/>
            <a:r>
              <a:t>và 151 kịch bản kiểm thử tự động</a:t>
            </a:r>
          </a:p>
        </p:txBody>
      </p:sp>
      <p:sp>
        <p:nvSpPr>
          <p:cNvPr id="5" name="TextBox 4"/>
          <p:cNvSpPr txBox="1"/>
          <p:nvPr/>
        </p:nvSpPr>
        <p:spPr>
          <a:xfrm>
            <a:off x="8686800" y="713232"/>
            <a:ext cx="2834640" cy="822960"/>
          </a:xfrm>
          <a:prstGeom prst="rect">
            <a:avLst/>
          </a:prstGeom>
          <a:noFill/>
        </p:spPr>
        <p:txBody>
          <a:bodyPr wrap="square" lIns="0" rIns="0" tIns="0" bIns="0">
            <a:spAutoFit/>
          </a:bodyPr>
          <a:lstStyle/>
          <a:p>
            <a:pPr algn="r">
              <a:defRPr sz="5200" b="1" i="0">
                <a:solidFill>
                  <a:srgbClr val="231F1E"/>
                </a:solidFill>
                <a:latin typeface="Georgia"/>
              </a:defRPr>
            </a:pPr>
            <a:r>
              <a:t>151</a:t>
            </a:r>
          </a:p>
        </p:txBody>
      </p:sp>
      <p:sp>
        <p:nvSpPr>
          <p:cNvPr id="6" name="TextBox 5"/>
          <p:cNvSpPr txBox="1"/>
          <p:nvPr/>
        </p:nvSpPr>
        <p:spPr>
          <a:xfrm>
            <a:off x="7132320" y="1572768"/>
            <a:ext cx="4389120" cy="274320"/>
          </a:xfrm>
          <a:prstGeom prst="rect">
            <a:avLst/>
          </a:prstGeom>
          <a:noFill/>
        </p:spPr>
        <p:txBody>
          <a:bodyPr wrap="square" lIns="0" rIns="0" tIns="0" bIns="0">
            <a:spAutoFit/>
          </a:bodyPr>
          <a:lstStyle/>
          <a:p>
            <a:pPr algn="r">
              <a:defRPr sz="850" b="1" i="0">
                <a:solidFill>
                  <a:srgbClr val="787067"/>
                </a:solidFill>
                <a:latin typeface="Segoe UI"/>
              </a:defRPr>
            </a:pPr>
            <a:r>
              <a:t>129 PYTEST · 16 VITEST · 06 PLAYWRIGHT E2E (100% PASS)</a:t>
            </a:r>
          </a:p>
        </p:txBody>
      </p:sp>
      <p:sp>
        <p:nvSpPr>
          <p:cNvPr id="7" name="Rectangle 6"/>
          <p:cNvSpPr/>
          <p:nvPr/>
        </p:nvSpPr>
        <p:spPr>
          <a:xfrm>
            <a:off x="658368" y="2148840"/>
            <a:ext cx="10863072"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87952" y="2423160"/>
            <a:ext cx="10972" cy="3840480"/>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36992" y="2423160"/>
            <a:ext cx="10972" cy="3840480"/>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23160"/>
            <a:ext cx="3291840" cy="685800"/>
          </a:xfrm>
          <a:prstGeom prst="rect">
            <a:avLst/>
          </a:prstGeom>
          <a:noFill/>
        </p:spPr>
        <p:txBody>
          <a:bodyPr wrap="square" lIns="0" rIns="0" tIns="0" bIns="0">
            <a:spAutoFit/>
          </a:bodyPr>
          <a:lstStyle/>
          <a:p>
            <a:pPr algn="l">
              <a:defRPr sz="4400" b="1" i="0">
                <a:solidFill>
                  <a:srgbClr val="C85A32"/>
                </a:solidFill>
                <a:latin typeface="Georgia"/>
              </a:defRPr>
            </a:pPr>
            <a:r>
              <a:t>01</a:t>
            </a:r>
          </a:p>
        </p:txBody>
      </p:sp>
      <p:sp>
        <p:nvSpPr>
          <p:cNvPr id="11" name="TextBox 10"/>
          <p:cNvSpPr txBox="1"/>
          <p:nvPr/>
        </p:nvSpPr>
        <p:spPr>
          <a:xfrm>
            <a:off x="658368" y="3246120"/>
            <a:ext cx="3291840" cy="685800"/>
          </a:xfrm>
          <a:prstGeom prst="rect">
            <a:avLst/>
          </a:prstGeom>
          <a:noFill/>
        </p:spPr>
        <p:txBody>
          <a:bodyPr wrap="square" lIns="0" rIns="0" tIns="0" bIns="0">
            <a:spAutoFit/>
          </a:bodyPr>
          <a:lstStyle/>
          <a:p>
            <a:pPr algn="l">
              <a:defRPr sz="1900" b="1" i="0">
                <a:solidFill>
                  <a:srgbClr val="231F1E"/>
                </a:solidFill>
                <a:latin typeface="Georgia"/>
              </a:defRPr>
            </a:pPr>
            <a:r>
              <a:t>Phân tích Tác động Mã nguồn với Đồ thị GitNexus</a:t>
            </a:r>
          </a:p>
        </p:txBody>
      </p:sp>
      <p:sp>
        <p:nvSpPr>
          <p:cNvPr id="12" name="TextBox 11"/>
          <p:cNvSpPr txBox="1"/>
          <p:nvPr/>
        </p:nvSpPr>
        <p:spPr>
          <a:xfrm>
            <a:off x="658368" y="4005072"/>
            <a:ext cx="3291840" cy="1508760"/>
          </a:xfrm>
          <a:prstGeom prst="rect">
            <a:avLst/>
          </a:prstGeom>
          <a:noFill/>
        </p:spPr>
        <p:txBody>
          <a:bodyPr wrap="square" lIns="0" rIns="0" tIns="0" bIns="0">
            <a:spAutoFit/>
          </a:bodyPr>
          <a:lstStyle/>
          <a:p>
            <a:pPr algn="l">
              <a:defRPr sz="1150" b="0" i="0">
                <a:solidFill>
                  <a:srgbClr val="4A443F"/>
                </a:solidFill>
                <a:latin typeface="Segoe UI"/>
              </a:defRPr>
            </a:pPr>
            <a:r>
              <a:t>Lập chỉ mục toàn bộ 1.596 ký hiệu mã nguồn và 2.889 mối quan hệ phụ thuộc giữa Backend và Frontend.</a:t>
            </a:r>
            <a:br/>
            <a:br/>
            <a:r>
              <a:t>Mọi thay đổi trên hàm nghiệp vụ đều được đánh giá bán kính ảnh hưởng trước khi chỉnh sửa.</a:t>
            </a:r>
          </a:p>
        </p:txBody>
      </p:sp>
      <p:sp>
        <p:nvSpPr>
          <p:cNvPr id="13" name="Rectangle 12"/>
          <p:cNvSpPr/>
          <p:nvPr/>
        </p:nvSpPr>
        <p:spPr>
          <a:xfrm>
            <a:off x="658368" y="5687568"/>
            <a:ext cx="32918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833872"/>
            <a:ext cx="3291840" cy="365760"/>
          </a:xfrm>
          <a:prstGeom prst="rect">
            <a:avLst/>
          </a:prstGeom>
          <a:noFill/>
        </p:spPr>
        <p:txBody>
          <a:bodyPr wrap="square" lIns="0" rIns="0" tIns="0" bIns="0">
            <a:spAutoFit/>
          </a:bodyPr>
          <a:lstStyle/>
          <a:p>
            <a:pPr algn="l">
              <a:defRPr sz="1500" b="1" i="0">
                <a:solidFill>
                  <a:srgbClr val="231F1E"/>
                </a:solidFill>
                <a:latin typeface="Georgia"/>
              </a:defRPr>
            </a:pPr>
            <a:r>
              <a:t>105 luồng thực thi được giám sát</a:t>
            </a:r>
          </a:p>
        </p:txBody>
      </p:sp>
      <p:sp>
        <p:nvSpPr>
          <p:cNvPr id="15" name="TextBox 14"/>
          <p:cNvSpPr txBox="1"/>
          <p:nvPr/>
        </p:nvSpPr>
        <p:spPr>
          <a:xfrm>
            <a:off x="4407408" y="2423160"/>
            <a:ext cx="3291840" cy="685800"/>
          </a:xfrm>
          <a:prstGeom prst="rect">
            <a:avLst/>
          </a:prstGeom>
          <a:noFill/>
        </p:spPr>
        <p:txBody>
          <a:bodyPr wrap="square" lIns="0" rIns="0" tIns="0" bIns="0">
            <a:spAutoFit/>
          </a:bodyPr>
          <a:lstStyle/>
          <a:p>
            <a:pPr algn="l">
              <a:defRPr sz="4400" b="1" i="0">
                <a:solidFill>
                  <a:srgbClr val="C85A32"/>
                </a:solidFill>
                <a:latin typeface="Georgia"/>
              </a:defRPr>
            </a:pPr>
            <a:r>
              <a:t>02</a:t>
            </a:r>
          </a:p>
        </p:txBody>
      </p:sp>
      <p:sp>
        <p:nvSpPr>
          <p:cNvPr id="16" name="TextBox 15"/>
          <p:cNvSpPr txBox="1"/>
          <p:nvPr/>
        </p:nvSpPr>
        <p:spPr>
          <a:xfrm>
            <a:off x="4407408" y="3246120"/>
            <a:ext cx="3291840" cy="685800"/>
          </a:xfrm>
          <a:prstGeom prst="rect">
            <a:avLst/>
          </a:prstGeom>
          <a:noFill/>
        </p:spPr>
        <p:txBody>
          <a:bodyPr wrap="square" lIns="0" rIns="0" tIns="0" bIns="0">
            <a:spAutoFit/>
          </a:bodyPr>
          <a:lstStyle/>
          <a:p>
            <a:pPr algn="l">
              <a:defRPr sz="1900" b="1" i="0">
                <a:solidFill>
                  <a:srgbClr val="231F1E"/>
                </a:solidFill>
                <a:latin typeface="Georgia"/>
              </a:defRPr>
            </a:pPr>
            <a:r>
              <a:t>Kiểm thử Tự động 3 Tầng (Unit, Integration &amp; E2E)</a:t>
            </a:r>
          </a:p>
        </p:txBody>
      </p:sp>
      <p:sp>
        <p:nvSpPr>
          <p:cNvPr id="17" name="TextBox 16"/>
          <p:cNvSpPr txBox="1"/>
          <p:nvPr/>
        </p:nvSpPr>
        <p:spPr>
          <a:xfrm>
            <a:off x="4407408" y="4005072"/>
            <a:ext cx="3291840" cy="1508760"/>
          </a:xfrm>
          <a:prstGeom prst="rect">
            <a:avLst/>
          </a:prstGeom>
          <a:noFill/>
        </p:spPr>
        <p:txBody>
          <a:bodyPr wrap="square" lIns="0" rIns="0" tIns="0" bIns="0">
            <a:spAutoFit/>
          </a:bodyPr>
          <a:lstStyle/>
          <a:p>
            <a:pPr algn="l">
              <a:defRPr sz="1150" b="0" i="0">
                <a:solidFill>
                  <a:srgbClr val="4A443F"/>
                </a:solidFill>
                <a:latin typeface="Segoe UI"/>
              </a:defRPr>
            </a:pPr>
            <a:r>
              <a:t>Xây dựng 129 bài kiểm thử Pytest bảo vệ các bất biến nghiệp vụ: phân quyền RBAC, duyệt 4 mắt, chặn từ cấm và suy diễn KPI.</a:t>
            </a:r>
            <a:br/>
            <a:br/>
            <a:r>
              <a:t>Kết hợp 16 bài kiểm thử Vitest UI và 06 kịch bản Playwright E2E.</a:t>
            </a:r>
          </a:p>
        </p:txBody>
      </p:sp>
      <p:sp>
        <p:nvSpPr>
          <p:cNvPr id="18" name="Rectangle 17"/>
          <p:cNvSpPr/>
          <p:nvPr/>
        </p:nvSpPr>
        <p:spPr>
          <a:xfrm>
            <a:off x="4407408" y="5687568"/>
            <a:ext cx="32918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7408" y="5833872"/>
            <a:ext cx="3291840" cy="365760"/>
          </a:xfrm>
          <a:prstGeom prst="rect">
            <a:avLst/>
          </a:prstGeom>
          <a:noFill/>
        </p:spPr>
        <p:txBody>
          <a:bodyPr wrap="square" lIns="0" rIns="0" tIns="0" bIns="0">
            <a:spAutoFit/>
          </a:bodyPr>
          <a:lstStyle/>
          <a:p>
            <a:pPr algn="l">
              <a:defRPr sz="1500" b="1" i="0">
                <a:solidFill>
                  <a:srgbClr val="1E6B52"/>
                </a:solidFill>
                <a:latin typeface="Georgia"/>
              </a:defRPr>
            </a:pPr>
            <a:r>
              <a:t>100% Pass trên môi trường CI</a:t>
            </a:r>
          </a:p>
        </p:txBody>
      </p:sp>
      <p:sp>
        <p:nvSpPr>
          <p:cNvPr id="20" name="TextBox 19"/>
          <p:cNvSpPr txBox="1"/>
          <p:nvPr/>
        </p:nvSpPr>
        <p:spPr>
          <a:xfrm>
            <a:off x="8156448" y="2423160"/>
            <a:ext cx="3291840" cy="685800"/>
          </a:xfrm>
          <a:prstGeom prst="rect">
            <a:avLst/>
          </a:prstGeom>
          <a:noFill/>
        </p:spPr>
        <p:txBody>
          <a:bodyPr wrap="square" lIns="0" rIns="0" tIns="0" bIns="0">
            <a:spAutoFit/>
          </a:bodyPr>
          <a:lstStyle/>
          <a:p>
            <a:pPr algn="l">
              <a:defRPr sz="4400" b="1" i="0">
                <a:solidFill>
                  <a:srgbClr val="C85A32"/>
                </a:solidFill>
                <a:latin typeface="Georgia"/>
              </a:defRPr>
            </a:pPr>
            <a:r>
              <a:t>03</a:t>
            </a:r>
          </a:p>
        </p:txBody>
      </p:sp>
      <p:sp>
        <p:nvSpPr>
          <p:cNvPr id="21" name="TextBox 20"/>
          <p:cNvSpPr txBox="1"/>
          <p:nvPr/>
        </p:nvSpPr>
        <p:spPr>
          <a:xfrm>
            <a:off x="8156448" y="3246120"/>
            <a:ext cx="3291840" cy="685800"/>
          </a:xfrm>
          <a:prstGeom prst="rect">
            <a:avLst/>
          </a:prstGeom>
          <a:noFill/>
        </p:spPr>
        <p:txBody>
          <a:bodyPr wrap="square" lIns="0" rIns="0" tIns="0" bIns="0">
            <a:spAutoFit/>
          </a:bodyPr>
          <a:lstStyle/>
          <a:p>
            <a:pPr algn="l">
              <a:defRPr sz="1900" b="1" i="0">
                <a:solidFill>
                  <a:srgbClr val="231F1E"/>
                </a:solidFill>
                <a:latin typeface="Georgia"/>
              </a:defRPr>
            </a:pPr>
            <a:r>
              <a:t>Đạo đức AI, Bảo mật &amp; Trách nhiệm Giải trình</a:t>
            </a:r>
          </a:p>
        </p:txBody>
      </p:sp>
      <p:sp>
        <p:nvSpPr>
          <p:cNvPr id="22" name="TextBox 21"/>
          <p:cNvSpPr txBox="1"/>
          <p:nvPr/>
        </p:nvSpPr>
        <p:spPr>
          <a:xfrm>
            <a:off x="8156448" y="4005072"/>
            <a:ext cx="3291840" cy="1508760"/>
          </a:xfrm>
          <a:prstGeom prst="rect">
            <a:avLst/>
          </a:prstGeom>
          <a:noFill/>
        </p:spPr>
        <p:txBody>
          <a:bodyPr wrap="square" lIns="0" rIns="0" tIns="0" bIns="0">
            <a:spAutoFit/>
          </a:bodyPr>
          <a:lstStyle/>
          <a:p>
            <a:pPr algn="l">
              <a:defRPr sz="1150" b="0" i="0">
                <a:solidFill>
                  <a:srgbClr val="4A443F"/>
                </a:solidFill>
                <a:latin typeface="Segoe UI"/>
              </a:defRPr>
            </a:pPr>
            <a:r>
              <a:t>Không truyền mật khẩu băm, khóa bí mật hệ thống hay thông tin định danh nhạy cảm sang tiến trình AI Runner.</a:t>
            </a:r>
            <a:br/>
            <a:br/>
            <a:r>
              <a:t>Mọi hành động chuyển trạng thái từ đề xuất của AI sang bản nháp đều gắn với tài khoản nhân sự.</a:t>
            </a:r>
          </a:p>
        </p:txBody>
      </p:sp>
      <p:sp>
        <p:nvSpPr>
          <p:cNvPr id="23" name="Rectangle 22"/>
          <p:cNvSpPr/>
          <p:nvPr/>
        </p:nvSpPr>
        <p:spPr>
          <a:xfrm>
            <a:off x="8156448" y="5687568"/>
            <a:ext cx="329184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56448" y="5833872"/>
            <a:ext cx="3291840" cy="365760"/>
          </a:xfrm>
          <a:prstGeom prst="rect">
            <a:avLst/>
          </a:prstGeom>
          <a:noFill/>
        </p:spPr>
        <p:txBody>
          <a:bodyPr wrap="square" lIns="0" rIns="0" tIns="0" bIns="0">
            <a:spAutoFit/>
          </a:bodyPr>
          <a:lstStyle/>
          <a:p>
            <a:pPr algn="l">
              <a:defRPr sz="1500" b="1" i="0">
                <a:solidFill>
                  <a:srgbClr val="C85A32"/>
                </a:solidFill>
                <a:latin typeface="Georgia"/>
              </a:defRPr>
            </a:pPr>
            <a:r>
              <a:t>Human-in-the-Loop toàn trình</a:t>
            </a:r>
          </a:p>
        </p:txBody>
      </p:sp>
      <p:sp>
        <p:nvSpPr>
          <p:cNvPr id="25" name="TextBox 24"/>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787067"/>
                </a:solidFill>
                <a:latin typeface="Georgia"/>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92240" cy="6858000"/>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92240" y="0"/>
            <a:ext cx="569945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ictu.png"/>
          <p:cNvPicPr>
            <a:picLocks noChangeAspect="1"/>
          </p:cNvPicPr>
          <p:nvPr/>
        </p:nvPicPr>
        <p:blipFill>
          <a:blip r:embed="rId2"/>
          <a:stretch>
            <a:fillRect/>
          </a:stretch>
        </p:blipFill>
        <p:spPr>
          <a:xfrm>
            <a:off x="658368" y="411480"/>
            <a:ext cx="457200" cy="457200"/>
          </a:xfrm>
          <a:prstGeom prst="rect">
            <a:avLst/>
          </a:prstGeom>
        </p:spPr>
      </p:pic>
      <p:sp>
        <p:nvSpPr>
          <p:cNvPr id="5" name="TextBox 4"/>
          <p:cNvSpPr txBox="1"/>
          <p:nvPr/>
        </p:nvSpPr>
        <p:spPr>
          <a:xfrm>
            <a:off x="1261872" y="457200"/>
            <a:ext cx="4663440" cy="320040"/>
          </a:xfrm>
          <a:prstGeom prst="rect">
            <a:avLst/>
          </a:prstGeom>
          <a:noFill/>
        </p:spPr>
        <p:txBody>
          <a:bodyPr wrap="square" lIns="0" rIns="0" tIns="0" bIns="0">
            <a:spAutoFit/>
          </a:bodyPr>
          <a:lstStyle/>
          <a:p>
            <a:pPr algn="l">
              <a:defRPr sz="950" b="1" i="0">
                <a:solidFill>
                  <a:srgbClr val="E07A5F"/>
                </a:solidFill>
                <a:latin typeface="Segoe UI"/>
              </a:defRPr>
            </a:pPr>
            <a:r>
              <a:t>04 · TỔNG KẾT ĐÓNG GÓP &amp; BẢO VỆ ĐỒ ÁN AIA331</a:t>
            </a:r>
          </a:p>
        </p:txBody>
      </p:sp>
      <p:sp>
        <p:nvSpPr>
          <p:cNvPr id="6" name="Rectangle 5"/>
          <p:cNvSpPr/>
          <p:nvPr/>
        </p:nvSpPr>
        <p:spPr>
          <a:xfrm>
            <a:off x="658368" y="969264"/>
            <a:ext cx="521208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70432"/>
            <a:ext cx="5303520" cy="2286000"/>
          </a:xfrm>
          <a:prstGeom prst="rect">
            <a:avLst/>
          </a:prstGeom>
          <a:noFill/>
        </p:spPr>
        <p:txBody>
          <a:bodyPr wrap="square" lIns="0" rIns="0" tIns="0" bIns="0">
            <a:spAutoFit/>
          </a:bodyPr>
          <a:lstStyle/>
          <a:p>
            <a:pPr algn="l">
              <a:defRPr sz="3200" b="1" i="0">
                <a:solidFill>
                  <a:srgbClr val="FBF9F5"/>
                </a:solidFill>
                <a:latin typeface="Georgia"/>
              </a:defRPr>
            </a:pPr>
            <a:r>
              <a:t>Kiến tạo Trợ lý AI Thực chất:</a:t>
            </a:r>
            <a:br/>
            <a:r>
              <a:t>Bám sát Dữ liệu,</a:t>
            </a:r>
            <a:br/>
            <a:r>
              <a:t>Tôn trọng Quy trình và</a:t>
            </a:r>
            <a:br/>
            <a:r>
              <a:t>Đặt Con người ở Trung tâm.</a:t>
            </a:r>
          </a:p>
        </p:txBody>
      </p:sp>
      <p:sp>
        <p:nvSpPr>
          <p:cNvPr id="8" name="TextBox 7"/>
          <p:cNvSpPr txBox="1"/>
          <p:nvPr/>
        </p:nvSpPr>
        <p:spPr>
          <a:xfrm>
            <a:off x="658368" y="3611880"/>
            <a:ext cx="5212080" cy="914400"/>
          </a:xfrm>
          <a:prstGeom prst="rect">
            <a:avLst/>
          </a:prstGeom>
          <a:noFill/>
        </p:spPr>
        <p:txBody>
          <a:bodyPr wrap="square" lIns="0" rIns="0" tIns="0" bIns="0">
            <a:spAutoFit/>
          </a:bodyPr>
          <a:lstStyle/>
          <a:p>
            <a:pPr algn="l">
              <a:defRPr sz="1200" b="0" i="0">
                <a:solidFill>
                  <a:srgbClr val="F2ECE1"/>
                </a:solidFill>
                <a:latin typeface="Segoe UI"/>
              </a:defRPr>
            </a:pPr>
            <a:r>
              <a:t>MarketFlow AI chứng minh rằng giá trị của AI trong phần mềm doanh nghiệp không nằm ở việc thay thế con người, mà ở sự kết hợp chặt chẽ giữa truy xuất dữ liệu chính xác (FastMCP) và rào chắn phê duyệt có kiểm soát (HITL).</a:t>
            </a:r>
          </a:p>
        </p:txBody>
      </p:sp>
      <p:sp>
        <p:nvSpPr>
          <p:cNvPr id="9" name="Rectangle 8"/>
          <p:cNvSpPr/>
          <p:nvPr/>
        </p:nvSpPr>
        <p:spPr>
          <a:xfrm>
            <a:off x="658368" y="4681728"/>
            <a:ext cx="521208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828032"/>
            <a:ext cx="5212080" cy="228600"/>
          </a:xfrm>
          <a:prstGeom prst="rect">
            <a:avLst/>
          </a:prstGeom>
          <a:noFill/>
        </p:spPr>
        <p:txBody>
          <a:bodyPr wrap="square" lIns="0" rIns="0" tIns="0" bIns="0">
            <a:spAutoFit/>
          </a:bodyPr>
          <a:lstStyle/>
          <a:p>
            <a:pPr algn="l">
              <a:defRPr sz="850" b="1" i="0">
                <a:solidFill>
                  <a:srgbClr val="E07A5F"/>
                </a:solidFill>
                <a:latin typeface="Segoe UI"/>
              </a:defRPr>
            </a:pPr>
            <a:r>
              <a:t>NHÓM 25 · HỌC PHẦN ỨNG DỤNG TRÍ TUỆ NHÂN TẠO (AIA331 — ĐỀ TÀI 80300)</a:t>
            </a:r>
          </a:p>
        </p:txBody>
      </p:sp>
      <p:sp>
        <p:nvSpPr>
          <p:cNvPr id="11" name="TextBox 10"/>
          <p:cNvSpPr txBox="1"/>
          <p:nvPr/>
        </p:nvSpPr>
        <p:spPr>
          <a:xfrm>
            <a:off x="658368" y="5084064"/>
            <a:ext cx="5212080" cy="292608"/>
          </a:xfrm>
          <a:prstGeom prst="rect">
            <a:avLst/>
          </a:prstGeom>
          <a:noFill/>
        </p:spPr>
        <p:txBody>
          <a:bodyPr wrap="square" lIns="0" rIns="0" tIns="0" bIns="0">
            <a:spAutoFit/>
          </a:bodyPr>
          <a:lstStyle/>
          <a:p>
            <a:pPr algn="l">
              <a:defRPr sz="1100" b="1" i="0">
                <a:solidFill>
                  <a:srgbClr val="FBF9F5"/>
                </a:solidFill>
                <a:latin typeface="Segoe UI"/>
              </a:defRPr>
            </a:pPr>
            <a:r>
              <a:t>SV thực hiện: Vũ Hiếu Kiên (DTC245200244) · Nguyễn Hải Đăng (DTC245120051)</a:t>
            </a:r>
          </a:p>
        </p:txBody>
      </p:sp>
      <p:sp>
        <p:nvSpPr>
          <p:cNvPr id="12" name="TextBox 11"/>
          <p:cNvSpPr txBox="1"/>
          <p:nvPr/>
        </p:nvSpPr>
        <p:spPr>
          <a:xfrm>
            <a:off x="658368" y="5376672"/>
            <a:ext cx="5212080" cy="292608"/>
          </a:xfrm>
          <a:prstGeom prst="rect">
            <a:avLst/>
          </a:prstGeom>
          <a:noFill/>
        </p:spPr>
        <p:txBody>
          <a:bodyPr wrap="square" lIns="0" rIns="0" tIns="0" bIns="0">
            <a:spAutoFit/>
          </a:bodyPr>
          <a:lstStyle/>
          <a:p>
            <a:pPr algn="l">
              <a:defRPr sz="1100" b="1" i="0">
                <a:solidFill>
                  <a:srgbClr val="F2ECE1"/>
                </a:solidFill>
                <a:latin typeface="Segoe UI"/>
              </a:defRPr>
            </a:pPr>
            <a:r>
              <a:t>Giảng viên hướng dẫn: TS. Nguyễn Tuấn Anh</a:t>
            </a:r>
          </a:p>
        </p:txBody>
      </p:sp>
      <p:sp>
        <p:nvSpPr>
          <p:cNvPr id="13" name="Rectangle 12"/>
          <p:cNvSpPr/>
          <p:nvPr/>
        </p:nvSpPr>
        <p:spPr>
          <a:xfrm>
            <a:off x="658368" y="5742432"/>
            <a:ext cx="5212080" cy="10972"/>
          </a:xfrm>
          <a:prstGeom prst="rect">
            <a:avLst/>
          </a:prstGeom>
          <a:solidFill>
            <a:srgbClr val="383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870448"/>
            <a:ext cx="3200400" cy="228600"/>
          </a:xfrm>
          <a:prstGeom prst="rect">
            <a:avLst/>
          </a:prstGeom>
          <a:noFill/>
        </p:spPr>
        <p:txBody>
          <a:bodyPr wrap="square" lIns="0" rIns="0" tIns="0" bIns="0">
            <a:spAutoFit/>
          </a:bodyPr>
          <a:lstStyle/>
          <a:p>
            <a:pPr algn="l">
              <a:defRPr sz="850" b="1" i="0">
                <a:solidFill>
                  <a:srgbClr val="52B788"/>
                </a:solidFill>
                <a:latin typeface="Segoe UI"/>
              </a:defRPr>
            </a:pPr>
            <a:r>
              <a:t>HỆ THỐNG ĐANG VẬN HÀNH TRỰC TUYẾN</a:t>
            </a:r>
          </a:p>
        </p:txBody>
      </p:sp>
      <p:sp>
        <p:nvSpPr>
          <p:cNvPr id="15" name="TextBox 14"/>
          <p:cNvSpPr txBox="1"/>
          <p:nvPr/>
        </p:nvSpPr>
        <p:spPr>
          <a:xfrm>
            <a:off x="658368" y="6108192"/>
            <a:ext cx="5029200" cy="384048"/>
          </a:xfrm>
          <a:prstGeom prst="rect">
            <a:avLst/>
          </a:prstGeom>
          <a:noFill/>
        </p:spPr>
        <p:txBody>
          <a:bodyPr wrap="square" lIns="0" rIns="0" tIns="0" bIns="0">
            <a:spAutoFit/>
          </a:bodyPr>
          <a:lstStyle/>
          <a:p>
            <a:pPr algn="l">
              <a:defRPr sz="1900" b="1" i="0">
                <a:solidFill>
                  <a:srgbClr val="FBF9F5"/>
                </a:solidFill>
                <a:latin typeface="Georgia"/>
              </a:defRPr>
            </a:pPr>
            <a:r>
              <a:t>https://marketing.kienhieu.id.vn</a:t>
            </a:r>
          </a:p>
        </p:txBody>
      </p:sp>
      <p:sp>
        <p:nvSpPr>
          <p:cNvPr id="16" name="TextBox 15"/>
          <p:cNvSpPr txBox="1"/>
          <p:nvPr/>
        </p:nvSpPr>
        <p:spPr>
          <a:xfrm>
            <a:off x="7022592" y="530352"/>
            <a:ext cx="4572000" cy="274320"/>
          </a:xfrm>
          <a:prstGeom prst="rect">
            <a:avLst/>
          </a:prstGeom>
          <a:noFill/>
        </p:spPr>
        <p:txBody>
          <a:bodyPr wrap="square" lIns="0" rIns="0" tIns="0" bIns="0">
            <a:spAutoFit/>
          </a:bodyPr>
          <a:lstStyle/>
          <a:p>
            <a:pPr algn="l">
              <a:defRPr sz="950" b="1" i="0">
                <a:solidFill>
                  <a:srgbClr val="787067"/>
                </a:solidFill>
                <a:latin typeface="Segoe UI"/>
              </a:defRPr>
            </a:pPr>
            <a:r>
              <a:t>BỐN ĐÓNG GÓP CỐT LÕI CỦA ĐỀ TÀI 80300</a:t>
            </a:r>
          </a:p>
        </p:txBody>
      </p:sp>
      <p:sp>
        <p:nvSpPr>
          <p:cNvPr id="17" name="Rectangle 16"/>
          <p:cNvSpPr/>
          <p:nvPr/>
        </p:nvSpPr>
        <p:spPr>
          <a:xfrm>
            <a:off x="7022592" y="841248"/>
            <a:ext cx="457200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22592" y="1170432"/>
            <a:ext cx="411480" cy="365760"/>
          </a:xfrm>
          <a:prstGeom prst="rect">
            <a:avLst/>
          </a:prstGeom>
          <a:noFill/>
        </p:spPr>
        <p:txBody>
          <a:bodyPr wrap="square" lIns="0" rIns="0" tIns="0" bIns="0">
            <a:spAutoFit/>
          </a:bodyPr>
          <a:lstStyle/>
          <a:p>
            <a:pPr algn="l">
              <a:defRPr sz="1800" b="1" i="0">
                <a:solidFill>
                  <a:srgbClr val="C85A32"/>
                </a:solidFill>
                <a:latin typeface="Georgia"/>
              </a:defRPr>
            </a:pPr>
            <a:r>
              <a:t>01</a:t>
            </a:r>
          </a:p>
        </p:txBody>
      </p:sp>
      <p:sp>
        <p:nvSpPr>
          <p:cNvPr id="19" name="TextBox 18"/>
          <p:cNvSpPr txBox="1"/>
          <p:nvPr/>
        </p:nvSpPr>
        <p:spPr>
          <a:xfrm>
            <a:off x="7479792" y="1170432"/>
            <a:ext cx="4114800" cy="365760"/>
          </a:xfrm>
          <a:prstGeom prst="rect">
            <a:avLst/>
          </a:prstGeom>
          <a:noFill/>
        </p:spPr>
        <p:txBody>
          <a:bodyPr wrap="square" lIns="0" rIns="0" tIns="0" bIns="0">
            <a:spAutoFit/>
          </a:bodyPr>
          <a:lstStyle/>
          <a:p>
            <a:pPr algn="l">
              <a:defRPr sz="1700" b="1" i="0">
                <a:solidFill>
                  <a:srgbClr val="231F1E"/>
                </a:solidFill>
                <a:latin typeface="Georgia"/>
              </a:defRPr>
            </a:pPr>
            <a:r>
              <a:t>Quản trị tiếp thị đa kênh đồng nhất</a:t>
            </a:r>
          </a:p>
        </p:txBody>
      </p:sp>
      <p:sp>
        <p:nvSpPr>
          <p:cNvPr id="20" name="TextBox 19"/>
          <p:cNvSpPr txBox="1"/>
          <p:nvPr/>
        </p:nvSpPr>
        <p:spPr>
          <a:xfrm>
            <a:off x="7479792" y="1554480"/>
            <a:ext cx="4114800" cy="502920"/>
          </a:xfrm>
          <a:prstGeom prst="rect">
            <a:avLst/>
          </a:prstGeom>
          <a:noFill/>
        </p:spPr>
        <p:txBody>
          <a:bodyPr wrap="square" lIns="0" rIns="0" tIns="0" bIns="0">
            <a:spAutoFit/>
          </a:bodyPr>
          <a:lstStyle/>
          <a:p>
            <a:pPr algn="l">
              <a:defRPr sz="1100" b="0" i="0">
                <a:solidFill>
                  <a:srgbClr val="4A443F"/>
                </a:solidFill>
                <a:latin typeface="Segoe UI"/>
              </a:defRPr>
            </a:pPr>
            <a:r>
              <a:t>Chuẩn hóa 7 kênh tiếp thị, tự động suy diễn CTR/CVR/CPA và nhập CSV 2 bước.</a:t>
            </a:r>
          </a:p>
        </p:txBody>
      </p:sp>
      <p:sp>
        <p:nvSpPr>
          <p:cNvPr id="21" name="Rectangle 20"/>
          <p:cNvSpPr/>
          <p:nvPr/>
        </p:nvSpPr>
        <p:spPr>
          <a:xfrm>
            <a:off x="7022592" y="2130552"/>
            <a:ext cx="457200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22592" y="2286000"/>
            <a:ext cx="411480" cy="365760"/>
          </a:xfrm>
          <a:prstGeom prst="rect">
            <a:avLst/>
          </a:prstGeom>
          <a:noFill/>
        </p:spPr>
        <p:txBody>
          <a:bodyPr wrap="square" lIns="0" rIns="0" tIns="0" bIns="0">
            <a:spAutoFit/>
          </a:bodyPr>
          <a:lstStyle/>
          <a:p>
            <a:pPr algn="l">
              <a:defRPr sz="1800" b="1" i="0">
                <a:solidFill>
                  <a:srgbClr val="C85A32"/>
                </a:solidFill>
                <a:latin typeface="Georgia"/>
              </a:defRPr>
            </a:pPr>
            <a:r>
              <a:t>02</a:t>
            </a:r>
          </a:p>
        </p:txBody>
      </p:sp>
      <p:sp>
        <p:nvSpPr>
          <p:cNvPr id="23" name="TextBox 22"/>
          <p:cNvSpPr txBox="1"/>
          <p:nvPr/>
        </p:nvSpPr>
        <p:spPr>
          <a:xfrm>
            <a:off x="7479792" y="2286000"/>
            <a:ext cx="4114800" cy="365760"/>
          </a:xfrm>
          <a:prstGeom prst="rect">
            <a:avLst/>
          </a:prstGeom>
          <a:noFill/>
        </p:spPr>
        <p:txBody>
          <a:bodyPr wrap="square" lIns="0" rIns="0" tIns="0" bIns="0">
            <a:spAutoFit/>
          </a:bodyPr>
          <a:lstStyle/>
          <a:p>
            <a:pPr algn="l">
              <a:defRPr sz="1700" b="1" i="0">
                <a:solidFill>
                  <a:srgbClr val="231F1E"/>
                </a:solidFill>
                <a:latin typeface="Georgia"/>
              </a:defRPr>
            </a:pPr>
            <a:r>
              <a:t>An toàn thương hiệu với Duyệt 4 mắt</a:t>
            </a:r>
          </a:p>
        </p:txBody>
      </p:sp>
      <p:sp>
        <p:nvSpPr>
          <p:cNvPr id="24" name="TextBox 23"/>
          <p:cNvSpPr txBox="1"/>
          <p:nvPr/>
        </p:nvSpPr>
        <p:spPr>
          <a:xfrm>
            <a:off x="7479792" y="2670048"/>
            <a:ext cx="4114800" cy="502920"/>
          </a:xfrm>
          <a:prstGeom prst="rect">
            <a:avLst/>
          </a:prstGeom>
          <a:noFill/>
        </p:spPr>
        <p:txBody>
          <a:bodyPr wrap="square" lIns="0" rIns="0" tIns="0" bIns="0">
            <a:spAutoFit/>
          </a:bodyPr>
          <a:lstStyle/>
          <a:p>
            <a:pPr algn="l">
              <a:defRPr sz="1100" b="0" i="0">
                <a:solidFill>
                  <a:srgbClr val="4A443F"/>
                </a:solidFill>
                <a:latin typeface="Segoe UI"/>
              </a:defRPr>
            </a:pPr>
            <a:r>
              <a:t>Chặn tự động từ khóa cấm ngay từ bản nháp và bắt buộc phê duyệt độc lập.</a:t>
            </a:r>
          </a:p>
        </p:txBody>
      </p:sp>
      <p:sp>
        <p:nvSpPr>
          <p:cNvPr id="25" name="Rectangle 24"/>
          <p:cNvSpPr/>
          <p:nvPr/>
        </p:nvSpPr>
        <p:spPr>
          <a:xfrm>
            <a:off x="7022592" y="3246120"/>
            <a:ext cx="457200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22592" y="3401568"/>
            <a:ext cx="411480" cy="365760"/>
          </a:xfrm>
          <a:prstGeom prst="rect">
            <a:avLst/>
          </a:prstGeom>
          <a:noFill/>
        </p:spPr>
        <p:txBody>
          <a:bodyPr wrap="square" lIns="0" rIns="0" tIns="0" bIns="0">
            <a:spAutoFit/>
          </a:bodyPr>
          <a:lstStyle/>
          <a:p>
            <a:pPr algn="l">
              <a:defRPr sz="1800" b="1" i="0">
                <a:solidFill>
                  <a:srgbClr val="C85A32"/>
                </a:solidFill>
                <a:latin typeface="Georgia"/>
              </a:defRPr>
            </a:pPr>
            <a:r>
              <a:t>03</a:t>
            </a:r>
          </a:p>
        </p:txBody>
      </p:sp>
      <p:sp>
        <p:nvSpPr>
          <p:cNvPr id="27" name="TextBox 26"/>
          <p:cNvSpPr txBox="1"/>
          <p:nvPr/>
        </p:nvSpPr>
        <p:spPr>
          <a:xfrm>
            <a:off x="7479792" y="3401568"/>
            <a:ext cx="4114800" cy="365760"/>
          </a:xfrm>
          <a:prstGeom prst="rect">
            <a:avLst/>
          </a:prstGeom>
          <a:noFill/>
        </p:spPr>
        <p:txBody>
          <a:bodyPr wrap="square" lIns="0" rIns="0" tIns="0" bIns="0">
            <a:spAutoFit/>
          </a:bodyPr>
          <a:lstStyle/>
          <a:p>
            <a:pPr algn="l">
              <a:defRPr sz="1700" b="1" i="0">
                <a:solidFill>
                  <a:srgbClr val="231F1E"/>
                </a:solidFill>
                <a:latin typeface="Georgia"/>
              </a:defRPr>
            </a:pPr>
            <a:r>
              <a:t>Kiến trúc 14 công cụ FastMCP cô lập</a:t>
            </a:r>
          </a:p>
        </p:txBody>
      </p:sp>
      <p:sp>
        <p:nvSpPr>
          <p:cNvPr id="28" name="TextBox 27"/>
          <p:cNvSpPr txBox="1"/>
          <p:nvPr/>
        </p:nvSpPr>
        <p:spPr>
          <a:xfrm>
            <a:off x="7479792" y="3785615"/>
            <a:ext cx="4114800" cy="502920"/>
          </a:xfrm>
          <a:prstGeom prst="rect">
            <a:avLst/>
          </a:prstGeom>
          <a:noFill/>
        </p:spPr>
        <p:txBody>
          <a:bodyPr wrap="square" lIns="0" rIns="0" tIns="0" bIns="0">
            <a:spAutoFit/>
          </a:bodyPr>
          <a:lstStyle/>
          <a:p>
            <a:pPr algn="l">
              <a:defRPr sz="1100" b="0" i="0">
                <a:solidFill>
                  <a:srgbClr val="4A443F"/>
                </a:solidFill>
                <a:latin typeface="Segoe UI"/>
              </a:defRPr>
            </a:pPr>
            <a:r>
              <a:t>Kết hợp 10 công cụ chỉ đọc và 04 công cụ chỉ đề xuất, đạt 97,1/100 điểm.</a:t>
            </a:r>
          </a:p>
        </p:txBody>
      </p:sp>
      <p:sp>
        <p:nvSpPr>
          <p:cNvPr id="29" name="Rectangle 28"/>
          <p:cNvSpPr/>
          <p:nvPr/>
        </p:nvSpPr>
        <p:spPr>
          <a:xfrm>
            <a:off x="7022592" y="4361688"/>
            <a:ext cx="457200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22592" y="4517136"/>
            <a:ext cx="411480" cy="365760"/>
          </a:xfrm>
          <a:prstGeom prst="rect">
            <a:avLst/>
          </a:prstGeom>
          <a:noFill/>
        </p:spPr>
        <p:txBody>
          <a:bodyPr wrap="square" lIns="0" rIns="0" tIns="0" bIns="0">
            <a:spAutoFit/>
          </a:bodyPr>
          <a:lstStyle/>
          <a:p>
            <a:pPr algn="l">
              <a:defRPr sz="1800" b="1" i="0">
                <a:solidFill>
                  <a:srgbClr val="C85A32"/>
                </a:solidFill>
                <a:latin typeface="Georgia"/>
              </a:defRPr>
            </a:pPr>
            <a:r>
              <a:t>04</a:t>
            </a:r>
          </a:p>
        </p:txBody>
      </p:sp>
      <p:sp>
        <p:nvSpPr>
          <p:cNvPr id="31" name="TextBox 30"/>
          <p:cNvSpPr txBox="1"/>
          <p:nvPr/>
        </p:nvSpPr>
        <p:spPr>
          <a:xfrm>
            <a:off x="7479792" y="4517136"/>
            <a:ext cx="4114800" cy="365760"/>
          </a:xfrm>
          <a:prstGeom prst="rect">
            <a:avLst/>
          </a:prstGeom>
          <a:noFill/>
        </p:spPr>
        <p:txBody>
          <a:bodyPr wrap="square" lIns="0" rIns="0" tIns="0" bIns="0">
            <a:spAutoFit/>
          </a:bodyPr>
          <a:lstStyle/>
          <a:p>
            <a:pPr algn="l">
              <a:defRPr sz="1700" b="1" i="0">
                <a:solidFill>
                  <a:srgbClr val="231F1E"/>
                </a:solidFill>
                <a:latin typeface="Georgia"/>
              </a:defRPr>
            </a:pPr>
            <a:r>
              <a:t>Kiểm chứng thực nghiệm 151 kịch bản</a:t>
            </a:r>
          </a:p>
        </p:txBody>
      </p:sp>
      <p:sp>
        <p:nvSpPr>
          <p:cNvPr id="32" name="TextBox 31"/>
          <p:cNvSpPr txBox="1"/>
          <p:nvPr/>
        </p:nvSpPr>
        <p:spPr>
          <a:xfrm>
            <a:off x="7479792" y="4901183"/>
            <a:ext cx="4114800" cy="502920"/>
          </a:xfrm>
          <a:prstGeom prst="rect">
            <a:avLst/>
          </a:prstGeom>
          <a:noFill/>
        </p:spPr>
        <p:txBody>
          <a:bodyPr wrap="square" lIns="0" rIns="0" tIns="0" bIns="0">
            <a:spAutoFit/>
          </a:bodyPr>
          <a:lstStyle/>
          <a:p>
            <a:pPr algn="l">
              <a:defRPr sz="1100" b="0" i="0">
                <a:solidFill>
                  <a:srgbClr val="4A443F"/>
                </a:solidFill>
                <a:latin typeface="Segoe UI"/>
              </a:defRPr>
            </a:pPr>
            <a:r>
              <a:t>Đảm bảo độ tin cậy với 129 Pytest, 16 Vitest, 06 Playwright E2E (100% Pass).</a:t>
            </a:r>
          </a:p>
        </p:txBody>
      </p:sp>
      <p:sp>
        <p:nvSpPr>
          <p:cNvPr id="33" name="Rectangle 32"/>
          <p:cNvSpPr/>
          <p:nvPr/>
        </p:nvSpPr>
        <p:spPr>
          <a:xfrm>
            <a:off x="7022592" y="5477255"/>
            <a:ext cx="4572000" cy="10972"/>
          </a:xfrm>
          <a:prstGeom prst="rect">
            <a:avLst/>
          </a:prstGeom>
          <a:solidFill>
            <a:srgbClr val="D8C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22592" y="5897880"/>
            <a:ext cx="2926080" cy="365760"/>
          </a:xfrm>
          <a:prstGeom prst="rect">
            <a:avLst/>
          </a:prstGeom>
          <a:noFill/>
        </p:spPr>
        <p:txBody>
          <a:bodyPr wrap="square" lIns="0" rIns="0" tIns="0" bIns="0">
            <a:spAutoFit/>
          </a:bodyPr>
          <a:lstStyle/>
          <a:p>
            <a:pPr algn="l">
              <a:defRPr sz="1600" b="1" i="0">
                <a:solidFill>
                  <a:srgbClr val="231F1E"/>
                </a:solidFill>
                <a:latin typeface="Georgia"/>
              </a:defRPr>
            </a:pPr>
            <a:r>
              <a:t>Xin trân trọng cảm ơn Hội đồng!</a:t>
            </a:r>
          </a:p>
        </p:txBody>
      </p:sp>
      <p:sp>
        <p:nvSpPr>
          <p:cNvPr id="35" name="TextBox 34"/>
          <p:cNvSpPr txBox="1"/>
          <p:nvPr/>
        </p:nvSpPr>
        <p:spPr>
          <a:xfrm>
            <a:off x="10881360" y="6355080"/>
            <a:ext cx="914400" cy="320040"/>
          </a:xfrm>
          <a:prstGeom prst="rect">
            <a:avLst/>
          </a:prstGeom>
          <a:noFill/>
        </p:spPr>
        <p:txBody>
          <a:bodyPr wrap="square" lIns="0" rIns="0" tIns="0" bIns="0">
            <a:spAutoFit/>
          </a:bodyPr>
          <a:lstStyle/>
          <a:p>
            <a:pPr algn="r">
              <a:defRPr sz="1200" b="1" i="0">
                <a:solidFill>
                  <a:srgbClr val="787067"/>
                </a:solidFill>
                <a:latin typeface="Georgia"/>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